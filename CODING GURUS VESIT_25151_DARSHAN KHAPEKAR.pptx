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  <p:embeddedFont>
      <p:font typeface="Noto Serif Devanagari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E4LZvKqGuWlKAhSuO2L/lbI13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19" Type="http://schemas.openxmlformats.org/officeDocument/2006/relationships/font" Target="fonts/NotoSerifDevanagari-bold.fntdata"/><Relationship Id="rId18" Type="http://schemas.openxmlformats.org/officeDocument/2006/relationships/font" Target="fonts/NotoSerifDevanagari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5f518172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9" name="Google Shape;129;g3815f51817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815f518172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e7d47bed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1" name="Google Shape;151;g37fe7d47be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7fe7d47bed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https://pmagy.gov.in/Docs/Guidelines_may_2023.pdf" TargetMode="External"/><Relationship Id="rId10" Type="http://schemas.openxmlformats.org/officeDocument/2006/relationships/hyperlink" Target="https://docs.google.com/document/d/13YTm5UFoWpjyKQze9drIdMNF3ToEG1K8wpPTNqGlcww/edit?usp=sharing" TargetMode="External"/><Relationship Id="rId13" Type="http://schemas.openxmlformats.org/officeDocument/2006/relationships/image" Target="../media/image7.png"/><Relationship Id="rId12" Type="http://schemas.openxmlformats.org/officeDocument/2006/relationships/hyperlink" Target="https://docs.google.com/document/d/1Tblbt0xzYgmkgLSVo4HLXGhQqm9o8oS6VzmMVLag4o0/edit?usp=sharin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hyperlink" Target="https://docs.google.com/document/d/1lLc81ZEkYAVIgfX1Cb0PXma362tSnSqlXnfbvyNQM8M/edit?usp=sharing" TargetMode="External"/><Relationship Id="rId14" Type="http://schemas.openxmlformats.org/officeDocument/2006/relationships/hyperlink" Target="https://www.youtube.com/watch?v=oG60d3G478g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hyperlink" Target="https://youtu.be/1KOcHaGgcFI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document/d/1uS3ii0eWJhEFa432dJwxURbKAL5Y8jRm/edit?usp=drive_link&amp;ouid=110060431126050254626&amp;rtpof=true&amp;sd=true" TargetMode="External"/><Relationship Id="rId10" Type="http://schemas.openxmlformats.org/officeDocument/2006/relationships/hyperlink" Target="https://docs.google.com/document/d/1uS3ii0eWJhEFa432dJwxURbKAL5Y8jRm/edit?usp=drive_link&amp;ouid=110060431126050254626&amp;rtpof=true&amp;sd=true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hyperlink" Target="https://docs.google.com/document/d/1FNd_wvXLIlJy9Z1tpeSa8gO3qBLFgkM6SfX98Qc5Whk/edit?usp=sharing" TargetMode="External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hyperlink" Target="https://docs.google.com/document/d/16qyHMaw2eOtTtthTp1dgsSoAJsuD9AJU/edi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hyperlink" Target="https://docs.google.com/document/d/1uS3ii0eWJhEFa432dJwxURbKAL5Y8jRm/edit?usp=sharing&amp;ouid=103992408977344397116&amp;rtpof=true&amp;sd=true" TargetMode="External"/><Relationship Id="rId22" Type="http://schemas.openxmlformats.org/officeDocument/2006/relationships/hyperlink" Target="https://docs.google.com/document/d/1JO7rOBG6UX48_UIBDXPY4pCbrjlh9ytqpOzSjhDO3eM/edit?usp=sharing" TargetMode="External"/><Relationship Id="rId21" Type="http://schemas.openxmlformats.org/officeDocument/2006/relationships/hyperlink" Target="https://docs.google.com/document/d/1FNd_wvXLIlJy9Z1tpeSa8gO3qBLFgkM6SfX98Qc5Whk/edit?usp=sharing" TargetMode="External"/><Relationship Id="rId24" Type="http://schemas.openxmlformats.org/officeDocument/2006/relationships/hyperlink" Target="https://www.youtube.com/watch?v=oG60d3G478g" TargetMode="External"/><Relationship Id="rId23" Type="http://schemas.openxmlformats.org/officeDocument/2006/relationships/hyperlink" Target="https://www.youtube.com/watch?v=oG60d3G478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hyperlink" Target="https://pmagy.gov.in/Docs/PPT_PMAGY_24102019.pdf" TargetMode="External"/><Relationship Id="rId26" Type="http://schemas.openxmlformats.org/officeDocument/2006/relationships/hyperlink" Target="https://youtu.be/1KOcHaGgcFI" TargetMode="External"/><Relationship Id="rId25" Type="http://schemas.openxmlformats.org/officeDocument/2006/relationships/hyperlink" Target="https://youtu.be/1KOcHaGgcFI" TargetMode="External"/><Relationship Id="rId5" Type="http://schemas.openxmlformats.org/officeDocument/2006/relationships/hyperlink" Target="https://pmagy.gov.in/Docs/Flow-Diagram-to-Generate-the-Interim-VDP.pdf" TargetMode="External"/><Relationship Id="rId6" Type="http://schemas.openxmlformats.org/officeDocument/2006/relationships/hyperlink" Target="https://pmagy.gov.in/Docs/Flow-Diagram-to-Generate-the-Interim-VDP.pdf" TargetMode="External"/><Relationship Id="rId7" Type="http://schemas.openxmlformats.org/officeDocument/2006/relationships/hyperlink" Target="https://pmagy.gov.in/Docs/User_Manual_of_AGY.pdf" TargetMode="External"/><Relationship Id="rId8" Type="http://schemas.openxmlformats.org/officeDocument/2006/relationships/hyperlink" Target="https://pmagy.gov.in/Docs/User_Manual_of_AGY.pdf" TargetMode="External"/><Relationship Id="rId11" Type="http://schemas.openxmlformats.org/officeDocument/2006/relationships/hyperlink" Target="https://pmajay.dosje.gov.in/Flow-Chart" TargetMode="External"/><Relationship Id="rId10" Type="http://schemas.openxmlformats.org/officeDocument/2006/relationships/hyperlink" Target="https://pmagy.gov.in/Docs/PPT_PMAGY_24102019.pdf" TargetMode="External"/><Relationship Id="rId13" Type="http://schemas.openxmlformats.org/officeDocument/2006/relationships/hyperlink" Target="https://www.pib.gov.in/PressReleaseIframePage.aspx?PRID=1995258" TargetMode="External"/><Relationship Id="rId12" Type="http://schemas.openxmlformats.org/officeDocument/2006/relationships/hyperlink" Target="https://pmajay.dosje.gov.in/Flow-Chart" TargetMode="External"/><Relationship Id="rId15" Type="http://schemas.openxmlformats.org/officeDocument/2006/relationships/hyperlink" Target="https://www.pib.gov.in/PressReleasePage.aspx?PRID=1995258&amp;utm_source=chatgpt.com" TargetMode="External"/><Relationship Id="rId14" Type="http://schemas.openxmlformats.org/officeDocument/2006/relationships/hyperlink" Target="https://www.pib.gov.in/PressReleaseIframePage.aspx?PRID=1995258" TargetMode="External"/><Relationship Id="rId17" Type="http://schemas.openxmlformats.org/officeDocument/2006/relationships/hyperlink" Target="https://pmagy.gov.in/Eligibility-Criteria?utm_source=chatgpt.com" TargetMode="External"/><Relationship Id="rId16" Type="http://schemas.openxmlformats.org/officeDocument/2006/relationships/hyperlink" Target="https://www.pib.gov.in/PressReleasePage.aspx?PRID=1995258&amp;utm_source=chatgpt.com" TargetMode="External"/><Relationship Id="rId19" Type="http://schemas.openxmlformats.org/officeDocument/2006/relationships/hyperlink" Target="https://docs.google.com/document/d/16qyHMaw2eOtTtthTp1dgsSoAJsuD9AJU/edit?usp=sharing&amp;ouid=103992408977344397116&amp;rtpof=true&amp;sd=true" TargetMode="External"/><Relationship Id="rId18" Type="http://schemas.openxmlformats.org/officeDocument/2006/relationships/hyperlink" Target="https://pmagy.gov.in/Eligibility-Criteria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405642" y="1265366"/>
            <a:ext cx="4638604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7603753" y="2129726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4298326" y="1050347"/>
            <a:ext cx="3374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011468"/>
            <a:ext cx="59247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670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SIH25151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Title-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Infrastructure, Amenities, and Service Gaps in SC-Majority Villages for Adarsh Gram Declaration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 -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Automation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Category-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 -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94062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Coding Gurus VESIT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ww.sih.gov.in/img1/SIH-Logo.png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299"/>
            <a:ext cx="1458799" cy="120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675" y="942000"/>
            <a:ext cx="3794226" cy="508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>
            <p:ph type="title"/>
          </p:nvPr>
        </p:nvSpPr>
        <p:spPr>
          <a:xfrm>
            <a:off x="504923" y="-2379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GRAMLINK ( </a:t>
            </a:r>
            <a:r>
              <a:rPr b="1" lang="en-US" sz="2700">
                <a:latin typeface="Noto Serif Devanagari"/>
                <a:ea typeface="Noto Serif Devanagari"/>
                <a:cs typeface="Noto Serif Devanagari"/>
                <a:sym typeface="Noto Serif Devanagari"/>
              </a:rPr>
              <a:t>ग्राम-Link)</a:t>
            </a:r>
            <a:endParaRPr sz="2700"/>
          </a:p>
        </p:txBody>
      </p:sp>
      <p:sp>
        <p:nvSpPr>
          <p:cNvPr id="104" name="Google Shape;104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5" name="Google Shape;105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https://www.sih.gov.in/img1/SIH-Logo.png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400" y="104600"/>
            <a:ext cx="1488415" cy="7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 b="32134" l="31640" r="27902" t="32319"/>
          <a:stretch/>
        </p:blipFill>
        <p:spPr>
          <a:xfrm>
            <a:off x="159175" y="108100"/>
            <a:ext cx="1530725" cy="75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596100" y="924550"/>
            <a:ext cx="7322700" cy="34575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29400" y="904875"/>
            <a:ext cx="72561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Solution: GramLink Web/App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</a:t>
            </a:r>
            <a:r>
              <a:rPr b="1" lang="en-US" sz="1700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ग्राम-Link 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GramLink Web/App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platform that uses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planning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blockchain-secured monitoring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reporting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transform SC-majority villages into Adarsh Grams. It enables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detection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 tracking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monitoring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citizen engagement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transparent and efficient rural development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057050" y="924550"/>
            <a:ext cx="3873900" cy="53289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85700" y="2237950"/>
            <a:ext cx="7466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detects missing infrastructure and service gaps in education, healthcare, sanitation, and connectivity.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VDP: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Auto-drafts Village Development Plans with scheme-linked funding suggestions.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 Tracker: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Monitors releases, utilization, and progress with AI-powered delay alerts.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Alerts: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Forecasts project completion timelines and flags bottlenecks early.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Security: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Ensures tamper-proof records, transparent fund flows, and secure project data.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Reports: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district, state, and national reports with charts and AI-driven narrative insights for decision-making.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Citizen Portal: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Transparent access to projects, decisions, and feedback.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Dashboards: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Tailored views for National, State, District, Block, and Village officers to track performance and take action.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96100" y="4496350"/>
            <a:ext cx="7322700" cy="11430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and Uniqueness: </a:t>
            </a:r>
            <a:endParaRPr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96100" y="5787250"/>
            <a:ext cx="7322700" cy="4386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04925" y="4965650"/>
            <a:ext cx="1782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-sync for rural areas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Survey App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176025" y="4973600"/>
            <a:ext cx="226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Blockchain-secured Funds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AI-Insights and Analytics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Citizen Feedback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209038" y="4973600"/>
            <a:ext cx="2088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VDP Draft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Auto-generated Reports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Extensive Dashboards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045725" y="4796150"/>
            <a:ext cx="1938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Village score Leaderboard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 and Geo-tagging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1455" y="79450"/>
            <a:ext cx="965945" cy="8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 txBox="1"/>
          <p:nvPr/>
        </p:nvSpPr>
        <p:spPr>
          <a:xfrm>
            <a:off x="8377150" y="5945425"/>
            <a:ext cx="3233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NO: 01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7">
            <a:alphaModFix/>
          </a:blip>
          <a:srcRect b="2496" l="0" r="0" t="0"/>
          <a:stretch/>
        </p:blipFill>
        <p:spPr>
          <a:xfrm>
            <a:off x="11390888" y="4308725"/>
            <a:ext cx="53125" cy="9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727700" y="5812400"/>
            <a:ext cx="725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Implementation : </a:t>
            </a:r>
            <a:r>
              <a:rPr lang="en-US" sz="13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Implementation-Video</a:t>
            </a:r>
            <a:r>
              <a:rPr lang="en-US" sz="13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Website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13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Mobile-App</a:t>
            </a:r>
            <a:r>
              <a:rPr lang="en-US" sz="1500">
                <a:solidFill>
                  <a:schemeClr val="accent1"/>
                </a:solidFill>
              </a:rPr>
              <a:t> 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(60% Completed and Tested)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648200" y="4918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हर गाँव, हर घर – आदर्श बनेगा नगर</a:t>
            </a:r>
            <a:endParaRPr sz="1200"/>
          </a:p>
        </p:txBody>
      </p:sp>
      <p:sp>
        <p:nvSpPr>
          <p:cNvPr id="123" name="Google Shape;123;p2"/>
          <p:cNvSpPr txBox="1"/>
          <p:nvPr/>
        </p:nvSpPr>
        <p:spPr>
          <a:xfrm>
            <a:off x="10816162" y="1231369"/>
            <a:ext cx="11148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**Referred from</a:t>
            </a:r>
            <a:r>
              <a:rPr lang="en-US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PMAGY May 2023 Guidelines</a:t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150200" y="1273575"/>
            <a:ext cx="1319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**Case Study </a:t>
            </a:r>
            <a:endParaRPr b="1" sz="1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u="sng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Rahatoli – Jambhilghar, Thane, Maharashtra</a:t>
            </a:r>
            <a:endParaRPr sz="900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5" name="Google Shape;125;p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36725" y="79450"/>
            <a:ext cx="630850" cy="6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9497975" y="603300"/>
            <a:ext cx="81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15f518172_0_13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815f518172_0_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34" name="Google Shape;134;g3815f518172_0_1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5" name="Google Shape;135;g3815f518172_0_13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https://www.sih.gov.in/img1/SIH-Logo.png" id="136" name="Google Shape;136;g3815f518172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00" y="104600"/>
            <a:ext cx="1488415" cy="7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815f518172_0_13"/>
          <p:cNvPicPr preferRelativeResize="0"/>
          <p:nvPr/>
        </p:nvPicPr>
        <p:blipFill rotWithShape="1">
          <a:blip r:embed="rId4">
            <a:alphaModFix/>
          </a:blip>
          <a:srcRect b="32134" l="31640" r="27902" t="32319"/>
          <a:stretch/>
        </p:blipFill>
        <p:spPr>
          <a:xfrm>
            <a:off x="159175" y="108100"/>
            <a:ext cx="1530725" cy="75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815f518172_0_13"/>
          <p:cNvSpPr txBox="1"/>
          <p:nvPr/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44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g3815f518172_0_13"/>
          <p:cNvSpPr/>
          <p:nvPr/>
        </p:nvSpPr>
        <p:spPr>
          <a:xfrm>
            <a:off x="7783800" y="998800"/>
            <a:ext cx="4146900" cy="52668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79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sz="1500">
              <a:solidFill>
                <a:srgbClr val="F79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40005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Frontend: Next.js, Tailwind CSS , Shadcn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● Backend: Flask, Node.js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● Database, Hosting, Authentication: Firebase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● AI/ML Integration:Hugging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face,langchain, n8n , Google ADK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 Geo-fencing: Leaflet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● Blockchain: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Hyperledger Fabric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● Automated Reporting: D3.js / Chart.js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● MFA and OTP Services: Firebase Authentication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40005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Mobile App: Android and Flutter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28575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g3815f518172_0_13"/>
          <p:cNvPicPr preferRelativeResize="0"/>
          <p:nvPr/>
        </p:nvPicPr>
        <p:blipFill rotWithShape="1">
          <a:blip r:embed="rId5">
            <a:alphaModFix/>
          </a:blip>
          <a:srcRect b="19200" l="0" r="0" t="17307"/>
          <a:stretch/>
        </p:blipFill>
        <p:spPr>
          <a:xfrm>
            <a:off x="9242999" y="5047050"/>
            <a:ext cx="827290" cy="4792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" name="Google Shape;141;g3815f518172_0_13"/>
          <p:cNvPicPr preferRelativeResize="0"/>
          <p:nvPr/>
        </p:nvPicPr>
        <p:blipFill rotWithShape="1">
          <a:blip r:embed="rId6">
            <a:alphaModFix/>
          </a:blip>
          <a:srcRect b="12967" l="11388" r="13043" t="0"/>
          <a:stretch/>
        </p:blipFill>
        <p:spPr>
          <a:xfrm>
            <a:off x="7869762" y="5047062"/>
            <a:ext cx="1269651" cy="104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815f518172_0_13"/>
          <p:cNvPicPr preferRelativeResize="0"/>
          <p:nvPr/>
        </p:nvPicPr>
        <p:blipFill rotWithShape="1">
          <a:blip r:embed="rId7">
            <a:alphaModFix/>
          </a:blip>
          <a:srcRect b="0" l="38038" r="0" t="0"/>
          <a:stretch/>
        </p:blipFill>
        <p:spPr>
          <a:xfrm>
            <a:off x="9222250" y="5642977"/>
            <a:ext cx="868800" cy="47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815f518172_0_13"/>
          <p:cNvPicPr preferRelativeResize="0"/>
          <p:nvPr/>
        </p:nvPicPr>
        <p:blipFill rotWithShape="1">
          <a:blip r:embed="rId8">
            <a:alphaModFix/>
          </a:blip>
          <a:srcRect b="9050" l="12355" r="19422" t="10213"/>
          <a:stretch/>
        </p:blipFill>
        <p:spPr>
          <a:xfrm>
            <a:off x="10173863" y="4981124"/>
            <a:ext cx="516362" cy="611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815f518172_0_13"/>
          <p:cNvSpPr/>
          <p:nvPr/>
        </p:nvSpPr>
        <p:spPr>
          <a:xfrm>
            <a:off x="783000" y="1007350"/>
            <a:ext cx="6880200" cy="52668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5" name="Google Shape;145;g3815f518172_0_13"/>
          <p:cNvPicPr preferRelativeResize="0"/>
          <p:nvPr/>
        </p:nvPicPr>
        <p:blipFill rotWithShape="1">
          <a:blip r:embed="rId9">
            <a:alphaModFix/>
          </a:blip>
          <a:srcRect b="14324" l="22677" r="19880" t="14939"/>
          <a:stretch/>
        </p:blipFill>
        <p:spPr>
          <a:xfrm>
            <a:off x="10891309" y="4923026"/>
            <a:ext cx="590600" cy="72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815f518172_0_13"/>
          <p:cNvPicPr preferRelativeResize="0"/>
          <p:nvPr/>
        </p:nvPicPr>
        <p:blipFill rotWithShape="1">
          <a:blip r:embed="rId10">
            <a:alphaModFix/>
          </a:blip>
          <a:srcRect b="24217" l="7258" r="7641" t="21520"/>
          <a:stretch/>
        </p:blipFill>
        <p:spPr>
          <a:xfrm>
            <a:off x="10173865" y="5700026"/>
            <a:ext cx="1145134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815f518172_0_13"/>
          <p:cNvSpPr txBox="1"/>
          <p:nvPr/>
        </p:nvSpPr>
        <p:spPr>
          <a:xfrm>
            <a:off x="6424125" y="5923625"/>
            <a:ext cx="113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NO: 02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g3815f518172_0_13" title="Government Hierarchy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71798" y="992511"/>
            <a:ext cx="6702613" cy="52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fe7d47bed_2_0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7fe7d47bed_2_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56" name="Google Shape;156;g37fe7d47bed_2_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g37fe7d47bed_2_0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https://www.sih.gov.in/img1/SIH-Logo.png" id="158" name="Google Shape;158;g37fe7d47bed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00" y="104600"/>
            <a:ext cx="1488415" cy="7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7fe7d47bed_2_0"/>
          <p:cNvPicPr preferRelativeResize="0"/>
          <p:nvPr/>
        </p:nvPicPr>
        <p:blipFill rotWithShape="1">
          <a:blip r:embed="rId4">
            <a:alphaModFix/>
          </a:blip>
          <a:srcRect b="32134" l="31640" r="27902" t="32319"/>
          <a:stretch/>
        </p:blipFill>
        <p:spPr>
          <a:xfrm>
            <a:off x="159175" y="108100"/>
            <a:ext cx="1530725" cy="75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7fe7d47bed_2_0"/>
          <p:cNvSpPr/>
          <p:nvPr/>
        </p:nvSpPr>
        <p:spPr>
          <a:xfrm>
            <a:off x="3814410" y="1003075"/>
            <a:ext cx="4581300" cy="52344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g37fe7d47bed_2_0"/>
          <p:cNvPicPr preferRelativeResize="0"/>
          <p:nvPr/>
        </p:nvPicPr>
        <p:blipFill rotWithShape="1">
          <a:blip r:embed="rId5">
            <a:alphaModFix/>
          </a:blip>
          <a:srcRect b="0" l="0" r="2429" t="0"/>
          <a:stretch/>
        </p:blipFill>
        <p:spPr>
          <a:xfrm>
            <a:off x="3886692" y="1042200"/>
            <a:ext cx="4423725" cy="513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7fe7d47bed_2_0" title="feasibilit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775" y="1011962"/>
            <a:ext cx="3054331" cy="52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7fe7d47bed_2_0"/>
          <p:cNvSpPr txBox="1"/>
          <p:nvPr/>
        </p:nvSpPr>
        <p:spPr>
          <a:xfrm>
            <a:off x="12378242" y="3459808"/>
            <a:ext cx="20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g37fe7d47bed_2_0"/>
          <p:cNvSpPr txBox="1"/>
          <p:nvPr/>
        </p:nvSpPr>
        <p:spPr>
          <a:xfrm>
            <a:off x="12422425" y="4105317"/>
            <a:ext cx="20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g37fe7d47bed_2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91950" y="991550"/>
            <a:ext cx="3110438" cy="52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7fe7d47bed_2_0"/>
          <p:cNvSpPr txBox="1"/>
          <p:nvPr/>
        </p:nvSpPr>
        <p:spPr>
          <a:xfrm>
            <a:off x="11098617" y="3923746"/>
            <a:ext cx="20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Report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7fe7d47bed_2_0"/>
          <p:cNvSpPr txBox="1"/>
          <p:nvPr/>
        </p:nvSpPr>
        <p:spPr>
          <a:xfrm>
            <a:off x="11139550" y="5907642"/>
            <a:ext cx="20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Report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7fe7d47bed_2_0">
            <a:hlinkClick r:id="rId10"/>
          </p:cNvPr>
          <p:cNvSpPr txBox="1"/>
          <p:nvPr/>
        </p:nvSpPr>
        <p:spPr>
          <a:xfrm>
            <a:off x="11098625" y="4783600"/>
            <a:ext cx="20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Report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6985200" y="977100"/>
            <a:ext cx="4905900" cy="52635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77" name="Google Shape;177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https://www.sih.gov.in/img1/SIH-Logo.png"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00" y="104600"/>
            <a:ext cx="1488415" cy="7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"/>
          <p:cNvPicPr preferRelativeResize="0"/>
          <p:nvPr/>
        </p:nvPicPr>
        <p:blipFill rotWithShape="1">
          <a:blip r:embed="rId4">
            <a:alphaModFix/>
          </a:blip>
          <a:srcRect b="32134" l="31640" r="27902" t="32319"/>
          <a:stretch/>
        </p:blipFill>
        <p:spPr>
          <a:xfrm>
            <a:off x="159175" y="108100"/>
            <a:ext cx="1530725" cy="75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951725"/>
            <a:ext cx="5892123" cy="526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/>
          <p:nvPr/>
        </p:nvSpPr>
        <p:spPr>
          <a:xfrm>
            <a:off x="413375" y="977100"/>
            <a:ext cx="6389700" cy="52668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3" name="Google Shape;183;p5" title="Flowchart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56900" y="1202225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635491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91" name="Google Shape;191;p6"/>
          <p:cNvSpPr txBox="1"/>
          <p:nvPr>
            <p:ph idx="12" type="sldNum"/>
          </p:nvPr>
        </p:nvSpPr>
        <p:spPr>
          <a:xfrm>
            <a:off x="8737600" y="63549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6"/>
          <p:cNvSpPr txBox="1"/>
          <p:nvPr>
            <p:ph idx="11" type="ftr"/>
          </p:nvPr>
        </p:nvSpPr>
        <p:spPr>
          <a:xfrm>
            <a:off x="4648200" y="635490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https://www.sih.gov.in/img1/SIH-Logo.png"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00" y="104600"/>
            <a:ext cx="1488415" cy="7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6"/>
          <p:cNvPicPr preferRelativeResize="0"/>
          <p:nvPr/>
        </p:nvPicPr>
        <p:blipFill rotWithShape="1">
          <a:blip r:embed="rId4">
            <a:alphaModFix/>
          </a:blip>
          <a:srcRect b="32134" l="31640" r="27902" t="32319"/>
          <a:stretch/>
        </p:blipFill>
        <p:spPr>
          <a:xfrm>
            <a:off x="159175" y="108100"/>
            <a:ext cx="1530725" cy="75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663275" y="924550"/>
            <a:ext cx="10647000" cy="26532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79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600">
              <a:solidFill>
                <a:srgbClr val="F79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79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Ministry of Social Justice &amp; Empowerment,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 to Generate the Interim VDP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Available: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https://pmagy.gov.in/Docs/Flow-Diagram-to-Generate-the-Interim-VDP.pdf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Ministry of Social Justice &amp; Empowerment,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PMAGY Platform User Manual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Available: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https://pmagy.gov.in/Docs/User_Manual_of_AGY.pdf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Ministry of Social Justice &amp; Empowerment,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PMAGY Implementation PPT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Available: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https://pmagy.gov.in/Docs/PPT_PMAGY_24102019.pdf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Ministry of Social Justice &amp; Empowerment,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Chart – PMAGY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Available: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https://pmajay.dosje.gov.in/Flow-Chart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Press Information Bureau,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“Pradhan Mantri Anusuchit Jaati Abhuyday Yojana (PM-AJAY)”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Release ID: 1995258, 11 Jan. 2024. Available: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/>
              </a:rPr>
              <a:t>https://www.pib.gov.in/PressReleaseIframePage.aspx?PRID=1995258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/>
              </a:rPr>
              <a:t>Press Information Bureau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Ministry of Social Justice &amp; Empowerment,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PMAGY Eligibility Criteria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Available: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/>
              </a:rPr>
              <a:t>https://pmagy.gov.in/Eligibility-Criteria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63275" y="3865975"/>
            <a:ext cx="10647000" cy="23877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</a:t>
            </a:r>
            <a:endParaRPr b="1" sz="1300">
              <a:solidFill>
                <a:srgbClr val="F79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79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“Case Study Report on PMAGY Process at Samaj Kalyan Office, Chembur,”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 Docs. [Online]. Available: </a:t>
            </a:r>
            <a:r>
              <a:rPr lang="en-US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9"/>
              </a:rPr>
              <a:t>[Link]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“GramLink – Dr. Babasaheb Ambedkar Samajik Nyay Bhavan Report,”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 Docs. [Online]. Available: </a:t>
            </a:r>
            <a:r>
              <a:rPr lang="en-US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/>
              </a:rPr>
              <a:t>[Link]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“Case Study Report on PMAGY Process at with Ground-level Workers, Rahatoli,”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 Docs. [Online]. Available:</a:t>
            </a:r>
            <a:r>
              <a:rPr lang="en-US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1"/>
              </a:rPr>
              <a:t>[Link]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“GramLink – Extensive Details,”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 Docs. [Online]. Available: </a:t>
            </a:r>
            <a:r>
              <a:rPr lang="en-US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2"/>
              </a:rPr>
              <a:t>[Link]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“PPT Explanation – GramLink,”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YouTube. [Online Video]. Available:</a:t>
            </a:r>
            <a:r>
              <a:rPr lang="en-US" sz="1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4"/>
              </a:rPr>
              <a:t>https://www.youtube.com/watch?v=oG60d3G478g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“Implementation – GramLink,”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YouTube. [Online Video]. Available:</a:t>
            </a:r>
            <a:r>
              <a:rPr lang="en-US" sz="1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6"/>
              </a:rPr>
              <a:t>https://youtu.be/1KOcHaGgcFI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300" u="sng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
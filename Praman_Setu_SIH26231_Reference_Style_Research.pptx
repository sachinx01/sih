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ih.gov.in/sih2026PS" TargetMode="External"/><Relationship Id="rId3" Type="http://schemas.openxmlformats.org/officeDocument/2006/relationships/hyperlink" Target="https://www.mha.gov.in/" TargetMode="External"/><Relationship Id="rId4" Type="http://schemas.openxmlformats.org/officeDocument/2006/relationships/hyperlink" Target="https://ncb.gov.in/" TargetMode="External"/><Relationship Id="rId5" Type="http://schemas.openxmlformats.org/officeDocument/2006/relationships/hyperlink" Target="https://www.indiacode.gov.in/" TargetMode="External"/><Relationship Id="rId6" Type="http://schemas.openxmlformats.org/officeDocument/2006/relationships/hyperlink" Target="https://www.nist.gov/forensic-science" TargetMode="External"/><Relationship Id="rId7" Type="http://schemas.openxmlformats.org/officeDocument/2006/relationships/hyperlink" Target="https://www.nist.gov/news-events/news/2022/11/osacs-seized-drugs-subcommittee-develops-process-map" TargetMode="External"/><Relationship Id="rId8" Type="http://schemas.openxmlformats.org/officeDocument/2006/relationships/hyperlink" Target="https://www.swgdrug.org/approved.htm" TargetMode="External"/><Relationship Id="rId9" Type="http://schemas.openxmlformats.org/officeDocument/2006/relationships/hyperlink" Target="https://www.iso.org/standard/66912.html" TargetMode="External"/><Relationship Id="rId10" Type="http://schemas.openxmlformats.org/officeDocument/2006/relationships/hyperlink" Target="https://csrc.nist.gov/pubs/fips/180-4/upd1/final" TargetMode="External"/><Relationship Id="rId11" Type="http://schemas.openxmlformats.org/officeDocument/2006/relationships/hyperlink" Target="https://csrc.nist.gov/pubs/fips/186-5/fina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2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B7CB"/>
          </a:solidFill>
          <a:ln>
            <a:solidFill>
              <a:srgbClr val="2DB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968A6"/>
          </a:solidFill>
          <a:ln>
            <a:solidFill>
              <a:srgbClr val="19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45720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DB7CB"/>
                </a:solidFill>
                <a:latin typeface="Aptos"/>
              </a:rPr>
              <a:t>SMART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53312"/>
            <a:ext cx="667512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4200" b="1">
                <a:solidFill>
                  <a:srgbClr val="FFFFFF"/>
                </a:solidFill>
                <a:latin typeface="Aptos Display"/>
              </a:rPr>
              <a:t>PRAMAN SETU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176272"/>
            <a:ext cx="70408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EFF6FA"/>
                </a:solidFill>
                <a:latin typeface="Aptos Display"/>
              </a:rPr>
              <a:t>Digital Companion for Field Drug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16352"/>
            <a:ext cx="589788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CDDDE8"/>
                </a:solidFill>
                <a:latin typeface="Aptos"/>
              </a:rPr>
              <a:t>A camera-led, offline-first workflow for calibrated presumptive results and tamper-evident field records.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041648"/>
            <a:ext cx="1234440" cy="283464"/>
          </a:xfrm>
          <a:prstGeom prst="roundRect">
            <a:avLst/>
          </a:prstGeom>
          <a:solidFill>
            <a:srgbClr val="EE8B43"/>
          </a:solidFill>
          <a:ln>
            <a:solidFill>
              <a:srgbClr val="EE8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069080"/>
            <a:ext cx="1234440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SIH26231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57400" y="4041648"/>
            <a:ext cx="2331720" cy="283464"/>
          </a:xfrm>
          <a:prstGeom prst="roundRect">
            <a:avLst/>
          </a:prstGeom>
          <a:solidFill>
            <a:srgbClr val="30976F"/>
          </a:solidFill>
          <a:ln>
            <a:solidFill>
              <a:srgbClr val="309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57400" y="4069080"/>
            <a:ext cx="2331720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MINISTRY OF HOME AFFAIRS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4041648"/>
            <a:ext cx="1005840" cy="283464"/>
          </a:xfrm>
          <a:prstGeom prst="roundRect">
            <a:avLst/>
          </a:prstGeom>
          <a:solidFill>
            <a:srgbClr val="2DB7CB"/>
          </a:solidFill>
          <a:ln>
            <a:solidFill>
              <a:srgbClr val="2DB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4069080"/>
            <a:ext cx="1005840" cy="1645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Aptos"/>
              </a:rPr>
              <a:t>SOFTWARE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914400"/>
            <a:ext cx="3154680" cy="4480560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307592"/>
            <a:ext cx="22402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D223B"/>
                </a:solidFill>
                <a:latin typeface="Aptos"/>
              </a:rPr>
              <a:t>REFERENCE</a:t>
            </a:r>
          </a:p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D223B"/>
                </a:solidFill>
                <a:latin typeface="Aptos"/>
              </a:rPr>
              <a:t>CARD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39327" y="2240280"/>
            <a:ext cx="521207" cy="521207"/>
          </a:xfrm>
          <a:prstGeom prst="rect">
            <a:avLst/>
          </a:prstGeom>
          <a:solidFill>
            <a:srgbClr val="FAFAF4"/>
          </a:solidFill>
          <a:ln>
            <a:solidFill>
              <a:srgbClr val="FAF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34272" y="2240280"/>
            <a:ext cx="521207" cy="521207"/>
          </a:xfrm>
          <a:prstGeom prst="rect">
            <a:avLst/>
          </a:prstGeom>
          <a:solidFill>
            <a:srgbClr val="121212"/>
          </a:solidFill>
          <a:ln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729215" y="2240280"/>
            <a:ext cx="521207" cy="521207"/>
          </a:xfrm>
          <a:prstGeom prst="rect">
            <a:avLst/>
          </a:prstGeom>
          <a:solidFill>
            <a:srgbClr val="BE3F44"/>
          </a:solidFill>
          <a:ln>
            <a:solidFill>
              <a:srgbClr val="BE3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39327" y="2935224"/>
            <a:ext cx="521207" cy="521207"/>
          </a:xfrm>
          <a:prstGeom prst="rect">
            <a:avLst/>
          </a:prstGeom>
          <a:solidFill>
            <a:srgbClr val="30976F"/>
          </a:solidFill>
          <a:ln>
            <a:solidFill>
              <a:srgbClr val="309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34272" y="2935224"/>
            <a:ext cx="521207" cy="521207"/>
          </a:xfrm>
          <a:prstGeom prst="rect">
            <a:avLst/>
          </a:prstGeom>
          <a:solidFill>
            <a:srgbClr val="1968A6"/>
          </a:solidFill>
          <a:ln>
            <a:solidFill>
              <a:srgbClr val="19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729215" y="2935224"/>
            <a:ext cx="521207" cy="521207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84464" y="3977639"/>
            <a:ext cx="2240280" cy="658368"/>
          </a:xfrm>
          <a:prstGeom prst="roundRect">
            <a:avLst/>
          </a:prstGeom>
          <a:solidFill>
            <a:srgbClr val="0D223B"/>
          </a:solidFill>
          <a:ln>
            <a:solidFill>
              <a:srgbClr val="0D2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4464" y="4160520"/>
            <a:ext cx="224028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2DB7CB"/>
                </a:solidFill>
                <a:latin typeface="Aptos"/>
              </a:rPr>
              <a:t>CARD VALID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870448"/>
            <a:ext cx="365760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Problem Statement ID: SIH26231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6647688"/>
            <a:ext cx="3931920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1">
                <a:solidFill>
                  <a:srgbClr val="F2BE46"/>
                </a:solidFill>
                <a:latin typeface="Aptos"/>
              </a:rPr>
              <a:t>SIMULATED PROTOTYPE - PRESUMPTIVE RESULT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68A6"/>
          </a:solidFill>
          <a:ln>
            <a:solidFill>
              <a:srgbClr val="19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D223B"/>
          </a:solidFill>
          <a:ln>
            <a:solidFill>
              <a:srgbClr val="0D2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56032"/>
            <a:ext cx="210312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1968A6"/>
                </a:solidFill>
                <a:latin typeface="Aptos"/>
              </a:rPr>
              <a:t>@ SIH IDEA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75488"/>
            <a:ext cx="7955279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0D223B"/>
                </a:solidFill>
                <a:latin typeface="Aptos Display"/>
              </a:rPr>
              <a:t>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78408"/>
            <a:ext cx="80467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D7180"/>
                </a:solidFill>
                <a:latin typeface="Aptos"/>
              </a:rPr>
              <a:t>From a subjective color reading to a documented field workflow.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356616"/>
            <a:ext cx="5029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>
                <a:solidFill>
                  <a:srgbClr val="1968A6"/>
                </a:solidFill>
                <a:latin typeface="Apto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47688"/>
            <a:ext cx="2194560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PRAMAN SETU  /  SIH26231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647688"/>
            <a:ext cx="2743200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1">
                <a:solidFill>
                  <a:srgbClr val="F2BE46"/>
                </a:solidFill>
                <a:latin typeface="Aptos"/>
              </a:rPr>
              <a:t>SIMULATED - NOT A DRUG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389888"/>
            <a:ext cx="71323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0D223B"/>
                </a:solidFill>
                <a:latin typeface="Aptos Display"/>
              </a:rPr>
              <a:t>Praman Setu works alongside existing colorimetric kits - no new hardware required.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965960"/>
            <a:ext cx="2743200" cy="1371600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965960"/>
            <a:ext cx="82296" cy="1371600"/>
          </a:xfrm>
          <a:prstGeom prst="rect">
            <a:avLst/>
          </a:prstGeom>
          <a:solidFill>
            <a:srgbClr val="EE8B43"/>
          </a:solidFill>
          <a:ln>
            <a:solidFill>
              <a:srgbClr val="EE8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130552"/>
            <a:ext cx="23774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D223B"/>
                </a:solidFill>
                <a:latin typeface="Aptos"/>
              </a:rPr>
              <a:t>CALIBRATED CAPTURE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487168"/>
            <a:ext cx="237744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Camera overlay aligns the reference card and test kit. Six known patches correct lighting and white balance.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1965960"/>
            <a:ext cx="2743200" cy="1371600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47872" y="1965960"/>
            <a:ext cx="82296" cy="1371600"/>
          </a:xfrm>
          <a:prstGeom prst="rect">
            <a:avLst/>
          </a:prstGeom>
          <a:solidFill>
            <a:srgbClr val="30976F"/>
          </a:solidFill>
          <a:ln>
            <a:solidFill>
              <a:srgbClr val="309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39" y="2130552"/>
            <a:ext cx="23774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D223B"/>
                </a:solidFill>
                <a:latin typeface="Aptos"/>
              </a:rPr>
              <a:t>EXPLAINABLE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487168"/>
            <a:ext cx="237744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LAB color measurement, Delta E, confidence, quality score, timing gates, and explicit Inconclusive reasons.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28816" y="1965960"/>
            <a:ext cx="2743200" cy="1371600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28816" y="1965960"/>
            <a:ext cx="82296" cy="1371600"/>
          </a:xfrm>
          <a:prstGeom prst="rect">
            <a:avLst/>
          </a:prstGeom>
          <a:solidFill>
            <a:srgbClr val="1968A6"/>
          </a:solidFill>
          <a:ln>
            <a:solidFill>
              <a:srgbClr val="19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9983" y="2130552"/>
            <a:ext cx="23774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D223B"/>
                </a:solidFill>
                <a:latin typeface="Aptos"/>
              </a:rPr>
              <a:t>TAMPER-EVIDENT RECORD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9983" y="2487168"/>
            <a:ext cx="237744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Original image hash, timestamp, GPS, operator, kit metadata, hash chain, device signature, and QR/PDF export.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1965960"/>
            <a:ext cx="2103120" cy="1371600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09760" y="1965960"/>
            <a:ext cx="82296" cy="1371600"/>
          </a:xfrm>
          <a:prstGeom prst="rect">
            <a:avLst/>
          </a:prstGeom>
          <a:solidFill>
            <a:srgbClr val="2DB7CB"/>
          </a:solidFill>
          <a:ln>
            <a:solidFill>
              <a:srgbClr val="2DB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10928" y="2130552"/>
            <a:ext cx="173736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D223B"/>
                </a:solidFill>
                <a:latin typeface="Aptos"/>
              </a:rPr>
              <a:t>OFFLINE FIELD 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10928" y="2487168"/>
            <a:ext cx="173736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SQLite-first records with PENDING, SYNCED, and FAILED states. Supervisor review remains read-only.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3977639"/>
            <a:ext cx="11018520" cy="1234440"/>
          </a:xfrm>
          <a:prstGeom prst="roundRect">
            <a:avLst/>
          </a:prstGeom>
          <a:solidFill>
            <a:srgbClr val="0D223B"/>
          </a:solidFill>
          <a:ln>
            <a:solidFill>
              <a:srgbClr val="0D2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79392"/>
            <a:ext cx="10332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Aptos Display"/>
              </a:rPr>
              <a:t>CAPTURE  -&gt;  CALIBRATE  -&gt;  CLASSIFY  -&gt;  SIGN  -&gt;  VERIFY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791456"/>
            <a:ext cx="103327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CDDDE8"/>
                </a:solidFill>
                <a:latin typeface="Aptos"/>
              </a:rPr>
              <a:t>Output: Preliminary Positive / Preliminary Negative / Inconclusive - never a replacement for laboratory confirmation.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5559552"/>
            <a:ext cx="20116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968A6"/>
                </a:solidFill>
                <a:latin typeface="Aptos"/>
              </a:rPr>
              <a:t>Innovation and uniqueness</a:t>
            </a:r>
          </a:p>
        </p:txBody>
      </p:sp>
      <p:sp>
        <p:nvSpPr>
          <p:cNvPr id="31" name="Oval 30"/>
          <p:cNvSpPr/>
          <p:nvPr/>
        </p:nvSpPr>
        <p:spPr>
          <a:xfrm>
            <a:off x="2331720" y="5586984"/>
            <a:ext cx="82296" cy="82296"/>
          </a:xfrm>
          <a:prstGeom prst="ellipse">
            <a:avLst/>
          </a:prstGeom>
          <a:solidFill>
            <a:srgbClr val="2DB7CB"/>
          </a:solidFill>
          <a:ln>
            <a:solidFill>
              <a:srgbClr val="2DB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14600" y="5513832"/>
            <a:ext cx="2377439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92A39"/>
                </a:solidFill>
                <a:latin typeface="Aptos"/>
              </a:rPr>
              <a:t>Reference-card calibration + quality gates</a:t>
            </a:r>
          </a:p>
        </p:txBody>
      </p:sp>
      <p:sp>
        <p:nvSpPr>
          <p:cNvPr id="33" name="Oval 32"/>
          <p:cNvSpPr/>
          <p:nvPr/>
        </p:nvSpPr>
        <p:spPr>
          <a:xfrm>
            <a:off x="5010912" y="5586984"/>
            <a:ext cx="82296" cy="82296"/>
          </a:xfrm>
          <a:prstGeom prst="ellipse">
            <a:avLst/>
          </a:prstGeom>
          <a:solidFill>
            <a:srgbClr val="2DB7CB"/>
          </a:solidFill>
          <a:ln>
            <a:solidFill>
              <a:srgbClr val="2DB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93792" y="5513832"/>
            <a:ext cx="20574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92A39"/>
                </a:solidFill>
                <a:latin typeface="Aptos"/>
              </a:rPr>
              <a:t>Cryptographic evidence identity</a:t>
            </a:r>
          </a:p>
        </p:txBody>
      </p:sp>
      <p:sp>
        <p:nvSpPr>
          <p:cNvPr id="35" name="Oval 34"/>
          <p:cNvSpPr/>
          <p:nvPr/>
        </p:nvSpPr>
        <p:spPr>
          <a:xfrm>
            <a:off x="7315200" y="5586984"/>
            <a:ext cx="82296" cy="82296"/>
          </a:xfrm>
          <a:prstGeom prst="ellipse">
            <a:avLst/>
          </a:prstGeom>
          <a:solidFill>
            <a:srgbClr val="2DB7CB"/>
          </a:solidFill>
          <a:ln>
            <a:solidFill>
              <a:srgbClr val="2DB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79" y="5513832"/>
            <a:ext cx="23317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92A39"/>
                </a:solidFill>
                <a:latin typeface="Aptos"/>
              </a:rPr>
              <a:t>Offline-first + retest comparison</a:t>
            </a:r>
          </a:p>
        </p:txBody>
      </p:sp>
      <p:sp>
        <p:nvSpPr>
          <p:cNvPr id="37" name="Oval 36"/>
          <p:cNvSpPr/>
          <p:nvPr/>
        </p:nvSpPr>
        <p:spPr>
          <a:xfrm>
            <a:off x="9893808" y="5586984"/>
            <a:ext cx="82296" cy="82296"/>
          </a:xfrm>
          <a:prstGeom prst="ellipse">
            <a:avLst/>
          </a:prstGeom>
          <a:solidFill>
            <a:srgbClr val="2DB7CB"/>
          </a:solidFill>
          <a:ln>
            <a:solidFill>
              <a:srgbClr val="2DB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5513832"/>
            <a:ext cx="14173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92A39"/>
                </a:solidFill>
                <a:latin typeface="Aptos"/>
              </a:rPr>
              <a:t>Simulation-safe demonstration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68A6"/>
          </a:solidFill>
          <a:ln>
            <a:solidFill>
              <a:srgbClr val="19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D223B"/>
          </a:solidFill>
          <a:ln>
            <a:solidFill>
              <a:srgbClr val="0D2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56032"/>
            <a:ext cx="210312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1968A6"/>
                </a:solidFill>
                <a:latin typeface="Aptos"/>
              </a:rPr>
              <a:t>@ SIH IDEA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75488"/>
            <a:ext cx="7955279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0D223B"/>
                </a:solidFill>
                <a:latin typeface="Aptos Display"/>
              </a:rPr>
              <a:t>TECHNICAL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78408"/>
            <a:ext cx="80467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D7180"/>
                </a:solidFill>
                <a:latin typeface="Aptos"/>
              </a:rPr>
              <a:t>A mobile workflow around a versioned Reference DB and canonical evidence contract.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356616"/>
            <a:ext cx="5029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>
                <a:solidFill>
                  <a:srgbClr val="1968A6"/>
                </a:solidFill>
                <a:latin typeface="Apto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47688"/>
            <a:ext cx="2194560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PRAMAN SETU  /  SIH26231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647688"/>
            <a:ext cx="2743200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1">
                <a:solidFill>
                  <a:srgbClr val="F2BE46"/>
                </a:solidFill>
                <a:latin typeface="Aptos"/>
              </a:rPr>
              <a:t>SIMULATED - NOT A DRUG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325880"/>
            <a:ext cx="18288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968A6"/>
                </a:solidFill>
                <a:latin typeface="Aptos"/>
              </a:rPr>
              <a:t>TECH STACK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691640"/>
            <a:ext cx="5166360" cy="713232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691640"/>
            <a:ext cx="82296" cy="713232"/>
          </a:xfrm>
          <a:prstGeom prst="rect">
            <a:avLst/>
          </a:prstGeom>
          <a:solidFill>
            <a:srgbClr val="2DB7CB"/>
          </a:solidFill>
          <a:ln>
            <a:solidFill>
              <a:srgbClr val="2DB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1856232"/>
            <a:ext cx="48006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D223B"/>
                </a:solidFill>
                <a:latin typeface="Aptos"/>
              </a:rP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212848"/>
            <a:ext cx="4800600" cy="731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React Native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Cross-platform mobile workflow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691640"/>
            <a:ext cx="5166360" cy="713232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691640"/>
            <a:ext cx="82296" cy="713232"/>
          </a:xfrm>
          <a:prstGeom prst="rect">
            <a:avLst/>
          </a:prstGeom>
          <a:solidFill>
            <a:srgbClr val="EE8B43"/>
          </a:solidFill>
          <a:ln>
            <a:solidFill>
              <a:srgbClr val="EE8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856232"/>
            <a:ext cx="48006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D223B"/>
                </a:solidFill>
                <a:latin typeface="Aptos"/>
              </a:rPr>
              <a:t>CAMERA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212848"/>
            <a:ext cx="4800600" cy="731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VisionCamera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Capture, preview, QR/barcode path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2587752"/>
            <a:ext cx="5166360" cy="713232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2587752"/>
            <a:ext cx="82296" cy="713232"/>
          </a:xfrm>
          <a:prstGeom prst="rect">
            <a:avLst/>
          </a:prstGeom>
          <a:solidFill>
            <a:srgbClr val="30976F"/>
          </a:solidFill>
          <a:ln>
            <a:solidFill>
              <a:srgbClr val="309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2752344"/>
            <a:ext cx="48006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D223B"/>
                </a:solidFill>
                <a:latin typeface="Aptos"/>
              </a:rPr>
              <a:t>IMAGE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108960"/>
            <a:ext cx="4800600" cy="731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OpenCV adapter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Blur, glare, clipping, ROI checks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587752"/>
            <a:ext cx="5166360" cy="713232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2587752"/>
            <a:ext cx="82296" cy="713232"/>
          </a:xfrm>
          <a:prstGeom prst="rect">
            <a:avLst/>
          </a:prstGeom>
          <a:solidFill>
            <a:srgbClr val="1968A6"/>
          </a:solidFill>
          <a:ln>
            <a:solidFill>
              <a:srgbClr val="19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2752344"/>
            <a:ext cx="48006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D223B"/>
                </a:solidFill>
                <a:latin typeface="Aptos"/>
              </a:rPr>
              <a:t>COLOR SCIENCE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3108960"/>
            <a:ext cx="4800600" cy="731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LAB + Delta 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Gain correction and classification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3483864"/>
            <a:ext cx="5166360" cy="713232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3483864"/>
            <a:ext cx="82296" cy="713232"/>
          </a:xfrm>
          <a:prstGeom prst="rect">
            <a:avLst/>
          </a:prstGeom>
          <a:solidFill>
            <a:srgbClr val="2DB7CB"/>
          </a:solidFill>
          <a:ln>
            <a:solidFill>
              <a:srgbClr val="2DB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3648456"/>
            <a:ext cx="48006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D223B"/>
                </a:solidFill>
                <a:latin typeface="Aptos"/>
              </a:rPr>
              <a:t>STORAGE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" y="4005072"/>
            <a:ext cx="4800600" cy="731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SQLite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Migrations + transactional offline queue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3483864"/>
            <a:ext cx="5166360" cy="713232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3483864"/>
            <a:ext cx="82296" cy="713232"/>
          </a:xfrm>
          <a:prstGeom prst="rect">
            <a:avLst/>
          </a:prstGeom>
          <a:solidFill>
            <a:srgbClr val="EE8B43"/>
          </a:solidFill>
          <a:ln>
            <a:solidFill>
              <a:srgbClr val="EE8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3648456"/>
            <a:ext cx="48006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D223B"/>
                </a:solidFill>
                <a:latin typeface="Aptos"/>
              </a:rPr>
              <a:t>CRYPTO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9088" y="4005072"/>
            <a:ext cx="4800600" cy="731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Quick Crypto + Keystore/Keychain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SHA-256, signature, public key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4379976"/>
            <a:ext cx="5166360" cy="713232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6928" y="4379976"/>
            <a:ext cx="82296" cy="713232"/>
          </a:xfrm>
          <a:prstGeom prst="rect">
            <a:avLst/>
          </a:prstGeom>
          <a:solidFill>
            <a:srgbClr val="30976F"/>
          </a:solidFill>
          <a:ln>
            <a:solidFill>
              <a:srgbClr val="309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096" y="4544568"/>
            <a:ext cx="48006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D223B"/>
                </a:solidFill>
                <a:latin typeface="Aptos"/>
              </a:rPr>
              <a:t>EXPORT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" y="4901184"/>
            <a:ext cx="4800600" cy="731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HTML-to-PDF + QR SVG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Evidence report and verification bundle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4379976"/>
            <a:ext cx="5166360" cy="713232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7920" y="4379976"/>
            <a:ext cx="82296" cy="713232"/>
          </a:xfrm>
          <a:prstGeom prst="rect">
            <a:avLst/>
          </a:prstGeom>
          <a:solidFill>
            <a:srgbClr val="1968A6"/>
          </a:solidFill>
          <a:ln>
            <a:solidFill>
              <a:srgbClr val="19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19088" y="4544568"/>
            <a:ext cx="48006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D223B"/>
                </a:solidFill>
                <a:latin typeface="Aptos"/>
              </a:rPr>
              <a:t>VERIFICATION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19088" y="4901184"/>
            <a:ext cx="4800600" cy="731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Plain HTML + JavaScript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Hash, signature, chain checks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5413248"/>
            <a:ext cx="10972800" cy="566928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5577840"/>
            <a:ext cx="109728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D223B"/>
                </a:solidFill>
                <a:latin typeface="Aptos"/>
              </a:rPr>
              <a:t>Core contract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5568696"/>
            <a:ext cx="909828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5D7180"/>
                </a:solidFill>
                <a:latin typeface="Aptos"/>
              </a:rPr>
              <a:t>Original image bytes -&gt; SHA-256 -&gt; canonical JSON -&gt; record hash -&gt; device signature -&gt; JSON + image + PDF + QR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68A6"/>
          </a:solidFill>
          <a:ln>
            <a:solidFill>
              <a:srgbClr val="19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D223B"/>
          </a:solidFill>
          <a:ln>
            <a:solidFill>
              <a:srgbClr val="0D2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56032"/>
            <a:ext cx="210312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1968A6"/>
                </a:solidFill>
                <a:latin typeface="Aptos"/>
              </a:rPr>
              <a:t>@ SIH IDEA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75488"/>
            <a:ext cx="7955279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0D223B"/>
                </a:solidFill>
                <a:latin typeface="Aptos Display"/>
              </a:rPr>
              <a:t>FEASIBILITY AND VIABILITY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78408"/>
            <a:ext cx="80467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D7180"/>
                </a:solidFill>
                <a:latin typeface="Aptos"/>
              </a:rPr>
              <a:t>Prototype scope is intentionally narrow, testable, and safe to demonstrate.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356616"/>
            <a:ext cx="5029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>
                <a:solidFill>
                  <a:srgbClr val="1968A6"/>
                </a:solidFill>
                <a:latin typeface="Aptos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47688"/>
            <a:ext cx="2194560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PRAMAN SETU  /  SIH26231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647688"/>
            <a:ext cx="2743200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1">
                <a:solidFill>
                  <a:srgbClr val="F2BE46"/>
                </a:solidFill>
                <a:latin typeface="Aptos"/>
              </a:rPr>
              <a:t>SIMULATED - NOT A DRUG 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463040"/>
            <a:ext cx="5120640" cy="1389888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463040"/>
            <a:ext cx="82296" cy="1389888"/>
          </a:xfrm>
          <a:prstGeom prst="rect">
            <a:avLst/>
          </a:prstGeom>
          <a:solidFill>
            <a:srgbClr val="2DB7CB"/>
          </a:solidFill>
          <a:ln>
            <a:solidFill>
              <a:srgbClr val="2DB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627632"/>
            <a:ext cx="4754879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D223B"/>
                </a:solidFill>
                <a:latin typeface="Aptos"/>
              </a:rPr>
              <a:t>TECHNICAL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1984248"/>
            <a:ext cx="4754879" cy="7498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Uses existing smartphone camera and established mobile primitives: React Native, SQLite, native crypto, and OpenCV adapter.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63040"/>
            <a:ext cx="5120640" cy="1389888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463040"/>
            <a:ext cx="82296" cy="1389888"/>
          </a:xfrm>
          <a:prstGeom prst="rect">
            <a:avLst/>
          </a:prstGeom>
          <a:solidFill>
            <a:srgbClr val="30976F"/>
          </a:solidFill>
          <a:ln>
            <a:solidFill>
              <a:srgbClr val="309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627632"/>
            <a:ext cx="4754879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D223B"/>
                </a:solidFill>
                <a:latin typeface="Aptos"/>
              </a:rPr>
              <a:t>OPERATIONAL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984248"/>
            <a:ext cx="4754879" cy="7498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Offline-first behavior preserves local evidence when field connectivity is unavailable; retry is explicit.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182112"/>
            <a:ext cx="5120640" cy="1389888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182112"/>
            <a:ext cx="82296" cy="1389888"/>
          </a:xfrm>
          <a:prstGeom prst="rect">
            <a:avLst/>
          </a:prstGeom>
          <a:solidFill>
            <a:srgbClr val="1968A6"/>
          </a:solidFill>
          <a:ln>
            <a:solidFill>
              <a:srgbClr val="19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3346704"/>
            <a:ext cx="4754879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D223B"/>
                </a:solidFill>
                <a:latin typeface="Aptos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3703320"/>
            <a:ext cx="4754879" cy="7498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Image hash, canonical record, previous hash, signature, and verification page make integrity visible.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182112"/>
            <a:ext cx="5120640" cy="1389888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3182112"/>
            <a:ext cx="82296" cy="1389888"/>
          </a:xfrm>
          <a:prstGeom prst="rect">
            <a:avLst/>
          </a:prstGeom>
          <a:solidFill>
            <a:srgbClr val="EE8B43"/>
          </a:solidFill>
          <a:ln>
            <a:solidFill>
              <a:srgbClr val="EE8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346704"/>
            <a:ext cx="4754879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D223B"/>
                </a:solidFill>
                <a:latin typeface="Aptos"/>
              </a:rPr>
              <a:t>SAFETY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3703320"/>
            <a:ext cx="4754879" cy="7498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Simulation-only materials, presumptive wording, hard quality gates, and laboratory-confirmation guidance.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074920"/>
            <a:ext cx="19202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968A6"/>
                </a:solidFill>
                <a:latin typeface="Aptos"/>
              </a:rPr>
              <a:t>Implementation boundary</a:t>
            </a:r>
          </a:p>
        </p:txBody>
      </p:sp>
      <p:sp>
        <p:nvSpPr>
          <p:cNvPr id="27" name="Oval 26"/>
          <p:cNvSpPr/>
          <p:nvPr/>
        </p:nvSpPr>
        <p:spPr>
          <a:xfrm>
            <a:off x="2468880" y="5102352"/>
            <a:ext cx="82296" cy="82296"/>
          </a:xfrm>
          <a:prstGeom prst="ellipse">
            <a:avLst/>
          </a:prstGeom>
          <a:solidFill>
            <a:srgbClr val="2DB7CB"/>
          </a:solidFill>
          <a:ln>
            <a:solidFill>
              <a:srgbClr val="2DB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51760" y="5029200"/>
            <a:ext cx="2788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92A39"/>
                </a:solidFill>
                <a:latin typeface="Aptos"/>
              </a:rPr>
              <a:t>Bundled versioned Reference DB for the prototype</a:t>
            </a:r>
          </a:p>
        </p:txBody>
      </p:sp>
      <p:sp>
        <p:nvSpPr>
          <p:cNvPr id="29" name="Oval 28"/>
          <p:cNvSpPr/>
          <p:nvPr/>
        </p:nvSpPr>
        <p:spPr>
          <a:xfrm>
            <a:off x="5486400" y="5102352"/>
            <a:ext cx="82296" cy="82296"/>
          </a:xfrm>
          <a:prstGeom prst="ellipse">
            <a:avLst/>
          </a:prstGeom>
          <a:solidFill>
            <a:srgbClr val="2DB7CB"/>
          </a:solidFill>
          <a:ln>
            <a:solidFill>
              <a:srgbClr val="2DB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0" y="5029200"/>
            <a:ext cx="2606039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92A39"/>
                </a:solidFill>
                <a:latin typeface="Aptos"/>
              </a:rPr>
              <a:t>Mock sync adapter; no claim of production backend</a:t>
            </a:r>
          </a:p>
        </p:txBody>
      </p:sp>
      <p:sp>
        <p:nvSpPr>
          <p:cNvPr id="31" name="Oval 30"/>
          <p:cNvSpPr/>
          <p:nvPr/>
        </p:nvSpPr>
        <p:spPr>
          <a:xfrm>
            <a:off x="8412480" y="5102352"/>
            <a:ext cx="82296" cy="82296"/>
          </a:xfrm>
          <a:prstGeom prst="ellipse">
            <a:avLst/>
          </a:prstGeom>
          <a:solidFill>
            <a:srgbClr val="2DB7CB"/>
          </a:solidFill>
          <a:ln>
            <a:solidFill>
              <a:srgbClr val="2DB7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59" y="5029200"/>
            <a:ext cx="2743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92A39"/>
                </a:solidFill>
                <a:latin typeface="Aptos"/>
              </a:rPr>
              <a:t>Prototype signing; no claim of trusted timestamps or agency PKI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623560"/>
            <a:ext cx="10881360" cy="438912"/>
          </a:xfrm>
          <a:prstGeom prst="roundRect">
            <a:avLst/>
          </a:prstGeom>
          <a:solidFill>
            <a:srgbClr val="0D223B"/>
          </a:solidFill>
          <a:ln>
            <a:solidFill>
              <a:srgbClr val="0D2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5751576"/>
            <a:ext cx="1042416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Future production scope: backend, agency PKI, HSM, trusted timestamps, full encryption, CNN classifier, and multi-agency sync.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68A6"/>
          </a:solidFill>
          <a:ln>
            <a:solidFill>
              <a:srgbClr val="19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D223B"/>
          </a:solidFill>
          <a:ln>
            <a:solidFill>
              <a:srgbClr val="0D2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56032"/>
            <a:ext cx="210312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1968A6"/>
                </a:solidFill>
                <a:latin typeface="Aptos"/>
              </a:rPr>
              <a:t>@ SIH IDEA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75488"/>
            <a:ext cx="7955279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0D223B"/>
                </a:solidFill>
                <a:latin typeface="Aptos Display"/>
              </a:rPr>
              <a:t>IMPACT AND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78408"/>
            <a:ext cx="80467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D7180"/>
                </a:solidFill>
                <a:latin typeface="Aptos"/>
              </a:rPr>
              <a:t>A stronger field record without changing the chemistry or the kit.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356616"/>
            <a:ext cx="5029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>
                <a:solidFill>
                  <a:srgbClr val="1968A6"/>
                </a:solidFill>
                <a:latin typeface="Aptos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47688"/>
            <a:ext cx="2194560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PRAMAN SETU  /  SIH26231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647688"/>
            <a:ext cx="2743200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1">
                <a:solidFill>
                  <a:srgbClr val="F2BE46"/>
                </a:solidFill>
                <a:latin typeface="Aptos"/>
              </a:rPr>
              <a:t>SIMULATED - NOT A DRUG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371600"/>
            <a:ext cx="6400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0D223B"/>
                </a:solidFill>
                <a:latin typeface="Aptos Display"/>
              </a:rPr>
              <a:t>Praman Setu improves the evidence around a presumptive field test.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011680"/>
            <a:ext cx="5166360" cy="1170432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2011680"/>
            <a:ext cx="82296" cy="1170432"/>
          </a:xfrm>
          <a:prstGeom prst="rect">
            <a:avLst/>
          </a:prstGeom>
          <a:solidFill>
            <a:srgbClr val="BE3F44"/>
          </a:solidFill>
          <a:ln>
            <a:solidFill>
              <a:srgbClr val="BE3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176272"/>
            <a:ext cx="48006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D223B"/>
                </a:solidFill>
                <a:latin typeface="Aptos"/>
              </a:rPr>
              <a:t>CONSISTENCY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532888"/>
            <a:ext cx="4800600" cy="5303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Reference-card calibration and color-space measurement reduce subjective interpretation.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7" y="2011680"/>
            <a:ext cx="5166360" cy="1170432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7" y="2011680"/>
            <a:ext cx="82296" cy="1170432"/>
          </a:xfrm>
          <a:prstGeom prst="rect">
            <a:avLst/>
          </a:prstGeom>
          <a:solidFill>
            <a:srgbClr val="1968A6"/>
          </a:solidFill>
          <a:ln>
            <a:solidFill>
              <a:srgbClr val="19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5" y="2176272"/>
            <a:ext cx="48006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D223B"/>
                </a:solidFill>
                <a:latin typeface="Aptos"/>
              </a:rPr>
              <a:t>ACCOUNTABILITY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5" y="2532888"/>
            <a:ext cx="4800600" cy="5303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Operator, kit, batch, timing, location, image hash, signature, and chain travel together.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493008"/>
            <a:ext cx="5166360" cy="1170432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493008"/>
            <a:ext cx="82296" cy="1170432"/>
          </a:xfrm>
          <a:prstGeom prst="rect">
            <a:avLst/>
          </a:prstGeom>
          <a:solidFill>
            <a:srgbClr val="30976F"/>
          </a:solidFill>
          <a:ln>
            <a:solidFill>
              <a:srgbClr val="309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3657600"/>
            <a:ext cx="48006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D223B"/>
                </a:solidFill>
                <a:latin typeface="Aptos"/>
              </a:rPr>
              <a:t>CONTINUITY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4014216"/>
            <a:ext cx="4800600" cy="5303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Offline records survive weak connectivity and can be synchronized or retried later.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7" y="3493008"/>
            <a:ext cx="5166360" cy="1170432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6207" y="3493008"/>
            <a:ext cx="82296" cy="1170432"/>
          </a:xfrm>
          <a:prstGeom prst="rect">
            <a:avLst/>
          </a:prstGeom>
          <a:solidFill>
            <a:srgbClr val="EE8B43"/>
          </a:solidFill>
          <a:ln>
            <a:solidFill>
              <a:srgbClr val="EE8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5" y="3657600"/>
            <a:ext cx="48006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D223B"/>
                </a:solidFill>
                <a:latin typeface="Aptos"/>
              </a:rPr>
              <a:t>SUPERVISION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7375" y="4014216"/>
            <a:ext cx="4800600" cy="5303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Reviewers see the same read-only record and can request retest or laboratory confirmation.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5166360"/>
            <a:ext cx="10881360" cy="621792"/>
          </a:xfrm>
          <a:prstGeom prst="roundRect">
            <a:avLst/>
          </a:prstGeom>
          <a:solidFill>
            <a:srgbClr val="0D223B"/>
          </a:solidFill>
          <a:ln>
            <a:solidFill>
              <a:srgbClr val="0D2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321808"/>
            <a:ext cx="1033272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2BE46"/>
                </a:solidFill>
                <a:latin typeface="Aptos Display"/>
              </a:rPr>
              <a:t>Presumptive result  !=  laboratory confirmation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925312"/>
            <a:ext cx="98755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5D7180"/>
                </a:solidFill>
                <a:latin typeface="Aptos"/>
              </a:rPr>
              <a:t>The product is intentionally honest about uncertainty - that is part of its value.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68A6"/>
          </a:solidFill>
          <a:ln>
            <a:solidFill>
              <a:srgbClr val="196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D223B"/>
          </a:solidFill>
          <a:ln>
            <a:solidFill>
              <a:srgbClr val="0D2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56032"/>
            <a:ext cx="210312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1968A6"/>
                </a:solidFill>
                <a:latin typeface="Aptos"/>
              </a:rPr>
              <a:t>@ SIH IDEA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75488"/>
            <a:ext cx="7955279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0D223B"/>
                </a:solidFill>
                <a:latin typeface="Aptos Display"/>
              </a:rPr>
              <a:t>RESEARCH AND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78408"/>
            <a:ext cx="80467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D7180"/>
                </a:solidFill>
                <a:latin typeface="Aptos"/>
              </a:rPr>
              <a:t>Official problem context, public standards, and implementation documentation.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356616"/>
            <a:ext cx="5029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1">
                <a:solidFill>
                  <a:srgbClr val="1968A6"/>
                </a:solidFill>
                <a:latin typeface="Aptos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47688"/>
            <a:ext cx="2194560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PRAMAN SETU  /  SIH26231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647688"/>
            <a:ext cx="2743200" cy="1097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700" b="1">
                <a:solidFill>
                  <a:srgbClr val="F2BE46"/>
                </a:solidFill>
                <a:latin typeface="Aptos"/>
              </a:rPr>
              <a:t>SIMULATED - NOT A DRUG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298448"/>
            <a:ext cx="3657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D223B"/>
                </a:solidFill>
                <a:latin typeface="Aptos"/>
              </a:rPr>
              <a:t>Government and problem-statement 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691640"/>
            <a:ext cx="310896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968A6"/>
                </a:solidFill>
                <a:latin typeface="Aptos"/>
              </a:rPr>
              <a:t>[1]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691640"/>
            <a:ext cx="438912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100" u="sng">
                <a:solidFill>
                  <a:srgbClr val="1968A6"/>
                </a:solidFill>
                <a:latin typeface="Aptos"/>
                <a:hlinkClick r:id="rId2"/>
              </a:rPr>
              <a:t>Smart India Hackathon 2026 - SIH26231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1691640"/>
            <a:ext cx="585216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D7180"/>
                </a:solidFill>
                <a:latin typeface="Aptos"/>
              </a:rPr>
              <a:t>https://sih.gov.in/sih2026PS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194560"/>
            <a:ext cx="310896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968A6"/>
                </a:solidFill>
                <a:latin typeface="Aptos"/>
              </a:rPr>
              <a:t>[2]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2194560"/>
            <a:ext cx="438912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100" u="sng">
                <a:solidFill>
                  <a:srgbClr val="1968A6"/>
                </a:solidFill>
                <a:latin typeface="Aptos"/>
                <a:hlinkClick r:id="rId3"/>
              </a:rPr>
              <a:t>Ministry of Home Affairs, Government of India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194560"/>
            <a:ext cx="585216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D7180"/>
                </a:solidFill>
                <a:latin typeface="Aptos"/>
              </a:rPr>
              <a:t>https://www.mha.gov.in/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697480"/>
            <a:ext cx="310896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968A6"/>
                </a:solidFill>
                <a:latin typeface="Aptos"/>
              </a:rPr>
              <a:t>[3]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2697480"/>
            <a:ext cx="438912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100" u="sng">
                <a:solidFill>
                  <a:srgbClr val="1968A6"/>
                </a:solidFill>
                <a:latin typeface="Aptos"/>
                <a:hlinkClick r:id="rId4"/>
              </a:rPr>
              <a:t>Narcotics Control Bureau, Government of India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697480"/>
            <a:ext cx="585216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D7180"/>
                </a:solidFill>
                <a:latin typeface="Aptos"/>
              </a:rPr>
              <a:t>https://ncb.gov.in/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200400"/>
            <a:ext cx="310896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968A6"/>
                </a:solidFill>
                <a:latin typeface="Aptos"/>
              </a:rPr>
              <a:t>[4]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3200400"/>
            <a:ext cx="438912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1100" u="sng">
                <a:solidFill>
                  <a:srgbClr val="1968A6"/>
                </a:solidFill>
                <a:latin typeface="Aptos"/>
                <a:hlinkClick r:id="rId5"/>
              </a:rPr>
              <a:t>India Code - Government legislation portal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3200400"/>
            <a:ext cx="585216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D7180"/>
                </a:solidFill>
                <a:latin typeface="Aptos"/>
              </a:rPr>
              <a:t>https://www.indiacode.gov.in/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977639"/>
            <a:ext cx="3657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D223B"/>
                </a:solidFill>
                <a:latin typeface="Aptos"/>
              </a:rPr>
              <a:t>Technical and standards references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279392"/>
            <a:ext cx="310896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968A6"/>
                </a:solidFill>
                <a:latin typeface="Aptos"/>
              </a:rPr>
              <a:t>[5]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4279392"/>
            <a:ext cx="521208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900" u="sng">
                <a:solidFill>
                  <a:srgbClr val="1968A6"/>
                </a:solidFill>
                <a:latin typeface="Aptos"/>
                <a:hlinkClick r:id="rId6"/>
              </a:rPr>
              <a:t>NIST Forensic Science and quality references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279392"/>
            <a:ext cx="5029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5D7180"/>
                </a:solidFill>
                <a:latin typeface="Aptos"/>
              </a:rPr>
              <a:t>https://www.nist.gov/forensic-science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4572000"/>
            <a:ext cx="310896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968A6"/>
                </a:solidFill>
                <a:latin typeface="Aptos"/>
              </a:rPr>
              <a:t>[6]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4572000"/>
            <a:ext cx="521208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900" u="sng">
                <a:solidFill>
                  <a:srgbClr val="1968A6"/>
                </a:solidFill>
                <a:latin typeface="Aptos"/>
                <a:hlinkClick r:id="rId7"/>
              </a:rPr>
              <a:t>NIST OSAC Seized Drugs Process Map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572000"/>
            <a:ext cx="5029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5D7180"/>
                </a:solidFill>
                <a:latin typeface="Aptos"/>
              </a:rPr>
              <a:t>https://www.nist.gov/news-events/news/2022/11/osacs-seized-drugs-subcommittee-develops-process-map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864607"/>
            <a:ext cx="310896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968A6"/>
                </a:solidFill>
                <a:latin typeface="Aptos"/>
              </a:rPr>
              <a:t>[7]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" y="4864607"/>
            <a:ext cx="521208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900" u="sng">
                <a:solidFill>
                  <a:srgbClr val="1968A6"/>
                </a:solidFill>
                <a:latin typeface="Aptos"/>
                <a:hlinkClick r:id="rId8"/>
              </a:rPr>
              <a:t>SWGDRUG Approved Recommendations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864607"/>
            <a:ext cx="5029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5D7180"/>
                </a:solidFill>
                <a:latin typeface="Aptos"/>
              </a:rPr>
              <a:t>https://www.swgdrug.org/approved.htm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157216"/>
            <a:ext cx="310896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968A6"/>
                </a:solidFill>
                <a:latin typeface="Aptos"/>
              </a:rPr>
              <a:t>[8]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" y="5157216"/>
            <a:ext cx="521208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900" u="sng">
                <a:solidFill>
                  <a:srgbClr val="1968A6"/>
                </a:solidFill>
                <a:latin typeface="Aptos"/>
                <a:hlinkClick r:id="rId9"/>
              </a:rPr>
              <a:t>ISO/IEC 17025:2017 - laboratory competence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5157216"/>
            <a:ext cx="5029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5D7180"/>
                </a:solidFill>
                <a:latin typeface="Aptos"/>
              </a:rPr>
              <a:t>https://www.iso.org/standard/66912.html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449824"/>
            <a:ext cx="310896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968A6"/>
                </a:solidFill>
                <a:latin typeface="Aptos"/>
              </a:rPr>
              <a:t>[9]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" y="5449824"/>
            <a:ext cx="521208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900" u="sng">
                <a:solidFill>
                  <a:srgbClr val="1968A6"/>
                </a:solidFill>
                <a:latin typeface="Aptos"/>
                <a:hlinkClick r:id="rId10"/>
              </a:rPr>
              <a:t>NIST FIPS 180-4 - Secure Hash Standard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5449824"/>
            <a:ext cx="5029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5D7180"/>
                </a:solidFill>
                <a:latin typeface="Aptos"/>
              </a:rPr>
              <a:t>https://csrc.nist.gov/pubs/fips/180-4/upd1/final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5742431"/>
            <a:ext cx="310896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968A6"/>
                </a:solidFill>
                <a:latin typeface="Aptos"/>
              </a:rPr>
              <a:t>[10]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" y="5742431"/>
            <a:ext cx="5212080" cy="2286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900" u="sng">
                <a:solidFill>
                  <a:srgbClr val="1968A6"/>
                </a:solidFill>
                <a:latin typeface="Aptos"/>
                <a:hlinkClick r:id="rId11"/>
              </a:rPr>
              <a:t>NIST FIPS 186-5 - Digital Signature Standard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5742431"/>
            <a:ext cx="5029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5D7180"/>
                </a:solidFill>
                <a:latin typeface="Aptos"/>
              </a:rPr>
              <a:t>https://csrc.nist.gov/pubs/fips/186-5/final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818120" y="1261872"/>
            <a:ext cx="3611880" cy="987552"/>
          </a:xfrm>
          <a:prstGeom prst="roundRect">
            <a:avLst/>
          </a:prstGeom>
          <a:solidFill>
            <a:srgbClr val="EFF6FA"/>
          </a:solidFill>
          <a:ln>
            <a:solidFill>
              <a:srgbClr val="EF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92440" y="1481328"/>
            <a:ext cx="128016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D223B"/>
                </a:solidFill>
                <a:latin typeface="Aptos"/>
              </a:rPr>
              <a:t>Reference note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92440" y="1783080"/>
            <a:ext cx="292608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D7180"/>
                </a:solidFill>
                <a:latin typeface="Aptos"/>
              </a:rPr>
              <a:t>The prototype demonstrates a presumptive workflow; it does not claim laboratory validation or legal-grade evidence.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09560" y="6144768"/>
            <a:ext cx="361188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>
                <a:solidFill>
                  <a:srgbClr val="1968A6"/>
                </a:solidFill>
                <a:latin typeface="Aptos"/>
              </a:rPr>
              <a:t>All links are embedded as clickable hyperlinks in the editable 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
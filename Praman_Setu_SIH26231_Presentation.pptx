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7563"/>
          </a:solidFill>
          <a:ln>
            <a:solidFill>
              <a:srgbClr val="FF7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7772400" y="-731520"/>
            <a:ext cx="5486400" cy="5486400"/>
          </a:xfrm>
          <a:prstGeom prst="arc">
            <a:avLst/>
          </a:prstGeom>
          <a:solidFill>
            <a:srgbClr val="151B1E"/>
          </a:solidFill>
          <a:ln>
            <a:solidFill>
              <a:srgbClr val="7CE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49640" y="1024128"/>
            <a:ext cx="2423160" cy="3840480"/>
          </a:xfrm>
          <a:prstGeom prst="rect">
            <a:avLst/>
          </a:prstGeom>
          <a:solidFill>
            <a:srgbClr val="F2EDE2"/>
          </a:solidFill>
          <a:ln>
            <a:solidFill>
              <a:srgbClr val="F2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51392" y="1371600"/>
            <a:ext cx="1810512" cy="128016"/>
          </a:xfrm>
          <a:prstGeom prst="rect">
            <a:avLst/>
          </a:prstGeom>
          <a:solidFill>
            <a:srgbClr val="FF7563"/>
          </a:solidFill>
          <a:ln>
            <a:solidFill>
              <a:srgbClr val="FF7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51392" y="1828800"/>
            <a:ext cx="438912" cy="438912"/>
          </a:xfrm>
          <a:prstGeom prst="rect">
            <a:avLst/>
          </a:prstGeom>
          <a:solidFill>
            <a:srgbClr val="FAFAF5"/>
          </a:solidFill>
          <a:ln>
            <a:solidFill>
              <a:srgbClr val="FAF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1828800"/>
            <a:ext cx="438912" cy="438912"/>
          </a:xfrm>
          <a:prstGeom prst="rect">
            <a:avLst/>
          </a:prstGeom>
          <a:solidFill>
            <a:srgbClr val="191919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76688" y="1828800"/>
            <a:ext cx="438912" cy="438912"/>
          </a:xfrm>
          <a:prstGeom prst="rect">
            <a:avLst/>
          </a:prstGeom>
          <a:solidFill>
            <a:srgbClr val="FF7563"/>
          </a:solidFill>
          <a:ln>
            <a:solidFill>
              <a:srgbClr val="FF7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51392" y="2441448"/>
            <a:ext cx="438912" cy="438912"/>
          </a:xfrm>
          <a:prstGeom prst="rect">
            <a:avLst/>
          </a:prstGeom>
          <a:solidFill>
            <a:srgbClr val="7CE0BC"/>
          </a:solidFill>
          <a:ln>
            <a:solidFill>
              <a:srgbClr val="7CE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464040" y="2441448"/>
            <a:ext cx="438912" cy="438912"/>
          </a:xfrm>
          <a:prstGeom prst="rect">
            <a:avLst/>
          </a:prstGeom>
          <a:solidFill>
            <a:srgbClr val="7CB9FF"/>
          </a:solidFill>
          <a:ln>
            <a:solidFill>
              <a:srgbClr val="7C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76688" y="2441448"/>
            <a:ext cx="438912" cy="438912"/>
          </a:xfrm>
          <a:prstGeom prst="rect">
            <a:avLst/>
          </a:prstGeom>
          <a:solidFill>
            <a:srgbClr val="878787"/>
          </a:solidFill>
          <a:ln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823960" y="3246120"/>
            <a:ext cx="1874519" cy="777240"/>
          </a:xfrm>
          <a:prstGeom prst="roundRect">
            <a:avLst>
              <a:gd name="adj" fmla="val 12000"/>
            </a:avLst>
          </a:prstGeom>
          <a:solidFill>
            <a:srgbClr val="151B1E"/>
          </a:solidFill>
          <a:ln>
            <a:solidFill>
              <a:srgbClr val="151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3364992"/>
            <a:ext cx="1874519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7CE0BC"/>
                </a:solidFill>
                <a:latin typeface="Aptos"/>
              </a:rPr>
              <a:t>CARD</a:t>
            </a:r>
          </a:p>
          <a:p>
            <a:pPr algn="ctr">
              <a:spcAft>
                <a:spcPts val="300"/>
              </a:spcAft>
            </a:pPr>
            <a:r>
              <a:rPr sz="1700" b="1">
                <a:solidFill>
                  <a:srgbClr val="7CE0BC"/>
                </a:solidFill>
                <a:latin typeface="Aptos"/>
              </a:rPr>
              <a:t>VALID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731520"/>
            <a:ext cx="5029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E0BC"/>
                </a:solidFill>
                <a:latin typeface="Aptos"/>
              </a:rPr>
              <a:t>SMART INDIA HACKATHON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371600"/>
            <a:ext cx="704088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4200" b="1">
                <a:solidFill>
                  <a:srgbClr val="F8F9F4"/>
                </a:solidFill>
                <a:latin typeface="Aptos Display"/>
              </a:rPr>
              <a:t>Praman Setu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331720"/>
            <a:ext cx="69494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0">
                <a:solidFill>
                  <a:srgbClr val="F2EDE2"/>
                </a:solidFill>
                <a:latin typeface="Aptos Display"/>
              </a:rPr>
              <a:t>Digital companion for field drug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108960"/>
            <a:ext cx="63093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B2BEB8"/>
                </a:solidFill>
                <a:latin typeface="Aptos"/>
              </a:rPr>
              <a:t>A camera-led, offline-first workflow for calibrated presumptive results and tamper-evident field records.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617720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FF7563"/>
          </a:solidFill>
          <a:ln>
            <a:solidFill>
              <a:srgbClr val="FF7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636007"/>
            <a:ext cx="12344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8F9F4"/>
                </a:solidFill>
                <a:latin typeface="Aptos"/>
              </a:rPr>
              <a:t>SIH26231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57400" y="4617720"/>
            <a:ext cx="1691640" cy="310896"/>
          </a:xfrm>
          <a:prstGeom prst="roundRect">
            <a:avLst>
              <a:gd name="adj" fmla="val 12000"/>
            </a:avLst>
          </a:prstGeom>
          <a:solidFill>
            <a:srgbClr val="7CE0BC"/>
          </a:solidFill>
          <a:ln>
            <a:solidFill>
              <a:srgbClr val="7CE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57400" y="4636007"/>
            <a:ext cx="16916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151B1E"/>
                </a:solidFill>
                <a:latin typeface="Aptos"/>
              </a:rPr>
              <a:t>MHA / SOFTWARE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080760"/>
            <a:ext cx="4023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7563"/>
                </a:solidFill>
                <a:latin typeface="Aptos"/>
              </a:rPr>
              <a:t>SIMULATED PROTOTYPE - NOT A DRUG 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446520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B2BEB8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7563"/>
          </a:solidFill>
          <a:ln>
            <a:solidFill>
              <a:srgbClr val="FF7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E0BC"/>
                </a:solidFill>
                <a:latin typeface="Aptos"/>
              </a:rPr>
              <a:t>01 / 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F8F9F4"/>
                </a:solidFill>
                <a:latin typeface="Aptos Display"/>
              </a:rPr>
              <a:t>The field result is visible. The evidence is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29768"/>
            <a:ext cx="594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B2BEB8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557784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F2EDE2"/>
                </a:solidFill>
                <a:latin typeface="Aptos Display"/>
              </a:rPr>
              <a:t>Today, a color change is interpreted by eye -</a:t>
            </a:r>
          </a:p>
          <a:p>
            <a:pPr algn="l">
              <a:spcAft>
                <a:spcPts val="300"/>
              </a:spcAft>
            </a:pPr>
            <a:r>
              <a:rPr sz="2200" b="1">
                <a:solidFill>
                  <a:srgbClr val="F2EDE2"/>
                </a:solidFill>
                <a:latin typeface="Aptos Display"/>
              </a:rPr>
              <a:t>with no consistent calibration and no verifiable record of the moment it happened.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417320"/>
            <a:ext cx="2331720" cy="1463040"/>
          </a:xfrm>
          <a:prstGeom prst="roundRect">
            <a:avLst>
              <a:gd name="adj" fmla="val 12000"/>
            </a:avLst>
          </a:prstGeom>
          <a:solidFill>
            <a:srgbClr val="1F282B"/>
          </a:solidFill>
          <a:ln>
            <a:solidFill>
              <a:srgbClr val="1F2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29400" y="1417320"/>
            <a:ext cx="64008" cy="1463040"/>
          </a:xfrm>
          <a:prstGeom prst="rect">
            <a:avLst/>
          </a:prstGeom>
          <a:solidFill>
            <a:srgbClr val="FF7563"/>
          </a:solidFill>
          <a:ln>
            <a:solidFill>
              <a:srgbClr val="FF7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600200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F7563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42631" y="1600200"/>
            <a:ext cx="141731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8F9F4"/>
                </a:solidFill>
                <a:latin typeface="Aptos"/>
              </a:rPr>
              <a:t>SUBJECTIVE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42631" y="2002536"/>
            <a:ext cx="1417319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2BEB8"/>
                </a:solidFill>
                <a:latin typeface="Aptos"/>
              </a:rPr>
              <a:t>Different officers can read the same color differently.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1417320"/>
            <a:ext cx="2331720" cy="1463040"/>
          </a:xfrm>
          <a:prstGeom prst="roundRect">
            <a:avLst>
              <a:gd name="adj" fmla="val 12000"/>
            </a:avLst>
          </a:prstGeom>
          <a:solidFill>
            <a:srgbClr val="1F282B"/>
          </a:solidFill>
          <a:ln>
            <a:solidFill>
              <a:srgbClr val="1F2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1417320"/>
            <a:ext cx="64008" cy="1463040"/>
          </a:xfrm>
          <a:prstGeom prst="rect">
            <a:avLst/>
          </a:prstGeom>
          <a:solidFill>
            <a:srgbClr val="F7C95B"/>
          </a:solidFill>
          <a:ln>
            <a:solidFill>
              <a:srgbClr val="F7C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1600200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7C95B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57232" y="1600200"/>
            <a:ext cx="141731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8F9F4"/>
                </a:solidFill>
                <a:latin typeface="Aptos"/>
              </a:rPr>
              <a:t>UNVERIFIED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57232" y="2002536"/>
            <a:ext cx="1417319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2BEB8"/>
                </a:solidFill>
                <a:latin typeface="Aptos"/>
              </a:rPr>
              <a:t>No camera evidence, calibrated reference, or chain of custody.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3154680"/>
            <a:ext cx="2331720" cy="1463040"/>
          </a:xfrm>
          <a:prstGeom prst="roundRect">
            <a:avLst>
              <a:gd name="adj" fmla="val 12000"/>
            </a:avLst>
          </a:prstGeom>
          <a:solidFill>
            <a:srgbClr val="1F282B"/>
          </a:solidFill>
          <a:ln>
            <a:solidFill>
              <a:srgbClr val="1F2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3154680"/>
            <a:ext cx="64008" cy="1463040"/>
          </a:xfrm>
          <a:prstGeom prst="rect">
            <a:avLst/>
          </a:prstGeom>
          <a:solidFill>
            <a:srgbClr val="7CB9FF"/>
          </a:solidFill>
          <a:ln>
            <a:solidFill>
              <a:srgbClr val="7C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3337560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B9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42631" y="3337560"/>
            <a:ext cx="141731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8F9F4"/>
                </a:solidFill>
                <a:latin typeface="Aptos"/>
              </a:rPr>
              <a:t>DISCONNECTED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2631" y="3739896"/>
            <a:ext cx="1417319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2BEB8"/>
                </a:solidFill>
                <a:latin typeface="Aptos"/>
              </a:rPr>
              <a:t>Kit batch, timing, place, and operator data are easy to lose.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3154680"/>
            <a:ext cx="2331720" cy="1463040"/>
          </a:xfrm>
          <a:prstGeom prst="roundRect">
            <a:avLst>
              <a:gd name="adj" fmla="val 12000"/>
            </a:avLst>
          </a:prstGeom>
          <a:solidFill>
            <a:srgbClr val="1F282B"/>
          </a:solidFill>
          <a:ln>
            <a:solidFill>
              <a:srgbClr val="1F2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3154680"/>
            <a:ext cx="64008" cy="1463040"/>
          </a:xfrm>
          <a:prstGeom prst="rect">
            <a:avLst/>
          </a:prstGeom>
          <a:solidFill>
            <a:srgbClr val="7CE0BC"/>
          </a:solidFill>
          <a:ln>
            <a:solidFill>
              <a:srgbClr val="7CE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600" y="3337560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E0BC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57232" y="3337560"/>
            <a:ext cx="141731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8F9F4"/>
                </a:solidFill>
                <a:latin typeface="Aptos"/>
              </a:rPr>
              <a:t>OFFLINE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57232" y="3739896"/>
            <a:ext cx="1417319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2BEB8"/>
                </a:solidFill>
                <a:latin typeface="Aptos"/>
              </a:rPr>
              <a:t>Field connectivity cannot be assumed at the point of testing.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069080"/>
            <a:ext cx="5394960" cy="1143000"/>
          </a:xfrm>
          <a:prstGeom prst="roundRect">
            <a:avLst>
              <a:gd name="adj" fmla="val 12000"/>
            </a:avLst>
          </a:prstGeom>
          <a:solidFill>
            <a:srgbClr val="F2EDE2"/>
          </a:solidFill>
          <a:ln>
            <a:solidFill>
              <a:srgbClr val="F2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297680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A2223"/>
                </a:solidFill>
                <a:latin typeface="Aptos"/>
              </a:rPr>
              <a:t>The opportunity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4599432"/>
            <a:ext cx="45720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A2223"/>
                </a:solidFill>
                <a:latin typeface="Aptos Display"/>
              </a:rPr>
              <a:t>Turn one subjective color reading into a documented, repeatable field workflow.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37960"/>
            <a:ext cx="4114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>
                <a:solidFill>
                  <a:srgbClr val="B2BEB8"/>
                </a:solidFill>
                <a:latin typeface="Aptos"/>
              </a:rPr>
              <a:t>PRAMAN SETU / SIH26231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6537960"/>
            <a:ext cx="4297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FF7563"/>
                </a:solidFill>
                <a:latin typeface="Aptos"/>
              </a:rPr>
              <a:t>SIMULATED PROTOTYPE - PRESUMPTIVE RESULT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7563"/>
          </a:solidFill>
          <a:ln>
            <a:solidFill>
              <a:srgbClr val="FF7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E0BC"/>
                </a:solidFill>
                <a:latin typeface="Aptos"/>
              </a:rPr>
              <a:t>02 /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F8F9F4"/>
                </a:solidFill>
                <a:latin typeface="Aptos Display"/>
              </a:rPr>
              <a:t>Praman Setu makes the test traceable.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29768"/>
            <a:ext cx="594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B2BEB8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80160"/>
            <a:ext cx="5029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F2EDE2"/>
                </a:solidFill>
                <a:latin typeface="Aptos Display"/>
              </a:rPr>
              <a:t>One flow. Three layers of confidence.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20240"/>
            <a:ext cx="3429000" cy="2286000"/>
          </a:xfrm>
          <a:prstGeom prst="roundRect">
            <a:avLst>
              <a:gd name="adj" fmla="val 12000"/>
            </a:avLst>
          </a:prstGeom>
          <a:solidFill>
            <a:srgbClr val="1F282B"/>
          </a:solidFill>
          <a:ln>
            <a:solidFill>
              <a:srgbClr val="1F2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20240"/>
            <a:ext cx="64008" cy="2286000"/>
          </a:xfrm>
          <a:prstGeom prst="rect">
            <a:avLst/>
          </a:prstGeom>
          <a:solidFill>
            <a:srgbClr val="FF7563"/>
          </a:solidFill>
          <a:ln>
            <a:solidFill>
              <a:srgbClr val="FF7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103120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F7563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03120"/>
            <a:ext cx="25146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8F9F4"/>
                </a:solidFill>
                <a:latin typeface="Aptos"/>
              </a:rPr>
              <a:t>CALIBRATE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05456"/>
            <a:ext cx="2514600" cy="1554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2BEB8"/>
                </a:solidFill>
                <a:latin typeface="Aptos"/>
              </a:rPr>
              <a:t>Use six reference patches and white-patch gain correction to normalize the captured image.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920240"/>
            <a:ext cx="3429000" cy="2286000"/>
          </a:xfrm>
          <a:prstGeom prst="roundRect">
            <a:avLst>
              <a:gd name="adj" fmla="val 12000"/>
            </a:avLst>
          </a:prstGeom>
          <a:solidFill>
            <a:srgbClr val="1F282B"/>
          </a:solidFill>
          <a:ln>
            <a:solidFill>
              <a:srgbClr val="1F2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920240"/>
            <a:ext cx="64008" cy="2286000"/>
          </a:xfrm>
          <a:prstGeom prst="rect">
            <a:avLst/>
          </a:prstGeom>
          <a:solidFill>
            <a:srgbClr val="7CE0BC"/>
          </a:solidFill>
          <a:ln>
            <a:solidFill>
              <a:srgbClr val="7CE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103120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E0BC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2352" y="2103120"/>
            <a:ext cx="25146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8F9F4"/>
                </a:solidFill>
                <a:latin typeface="Aptos"/>
              </a:rPr>
              <a:t>CLASSIFY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2352" y="2505456"/>
            <a:ext cx="2514600" cy="1554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2BEB8"/>
                </a:solidFill>
                <a:latin typeface="Aptos"/>
              </a:rPr>
              <a:t>Measure the reaction region in LAB space, compare with Delta E, and surface confidence plus uncertainty.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920240"/>
            <a:ext cx="3429000" cy="2286000"/>
          </a:xfrm>
          <a:prstGeom prst="roundRect">
            <a:avLst>
              <a:gd name="adj" fmla="val 12000"/>
            </a:avLst>
          </a:prstGeom>
          <a:solidFill>
            <a:srgbClr val="1F282B"/>
          </a:solidFill>
          <a:ln>
            <a:solidFill>
              <a:srgbClr val="1F2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2" y="1920240"/>
            <a:ext cx="64008" cy="2286000"/>
          </a:xfrm>
          <a:prstGeom prst="rect">
            <a:avLst/>
          </a:prstGeom>
          <a:solidFill>
            <a:srgbClr val="7CB9FF"/>
          </a:solidFill>
          <a:ln>
            <a:solidFill>
              <a:srgbClr val="7C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2103120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B9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33104" y="2103120"/>
            <a:ext cx="25146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8F9F4"/>
                </a:solidFill>
                <a:latin typeface="Aptos"/>
              </a:rPr>
              <a:t>PROVE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33104" y="2505456"/>
            <a:ext cx="2514600" cy="1554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2BEB8"/>
                </a:solidFill>
                <a:latin typeface="Aptos"/>
              </a:rPr>
              <a:t>Bind the image, metadata, timing, GPS, operator, hash, signature, and chain position into one record.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892040"/>
            <a:ext cx="65836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7CE0BC"/>
                </a:solidFill>
                <a:latin typeface="Aptos Display"/>
              </a:rPr>
              <a:t>Works with existing kits. No new hardware. Offline first.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413248"/>
            <a:ext cx="98755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B2BEB8"/>
                </a:solidFill>
                <a:latin typeface="Aptos"/>
              </a:rPr>
              <a:t>Output: a presumptive field-test result and supporting digital record - never a replacement for laboratory confirmation.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537960"/>
            <a:ext cx="4114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>
                <a:solidFill>
                  <a:srgbClr val="B2BEB8"/>
                </a:solidFill>
                <a:latin typeface="Aptos"/>
              </a:rPr>
              <a:t>PRAMAN SETU / SIH26231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6537960"/>
            <a:ext cx="4297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FF7563"/>
                </a:solidFill>
                <a:latin typeface="Aptos"/>
              </a:rPr>
              <a:t>SIMULATED PROTOTYPE - PRESUMPTIVE RESULT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7563"/>
          </a:solidFill>
          <a:ln>
            <a:solidFill>
              <a:srgbClr val="FF7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E0BC"/>
                </a:solidFill>
                <a:latin typeface="Aptos"/>
              </a:rPr>
              <a:t>03 / THE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F8F9F4"/>
                </a:solidFill>
                <a:latin typeface="Aptos Display"/>
              </a:rPr>
              <a:t>From camera frame to verifiable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29768"/>
            <a:ext cx="594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B2BEB8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1F282B"/>
          </a:solidFill>
          <a:ln>
            <a:solidFill>
              <a:srgbClr val="1F2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2130552"/>
            <a:ext cx="530352" cy="530352"/>
          </a:xfrm>
          <a:prstGeom prst="ellipse">
            <a:avLst/>
          </a:prstGeom>
          <a:solidFill>
            <a:srgbClr val="FF7563"/>
          </a:solidFill>
          <a:ln>
            <a:solidFill>
              <a:srgbClr val="FF7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07592" y="2112264"/>
            <a:ext cx="1097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8F9F4"/>
                </a:solidFill>
                <a:latin typeface="Aptos"/>
              </a:rPr>
              <a:t>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2432304"/>
            <a:ext cx="10972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2BEB8"/>
                </a:solidFill>
                <a:latin typeface="Aptos"/>
              </a:rPr>
              <a:t>Reference card + kit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3" y="2130552"/>
            <a:ext cx="23774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51B1E"/>
                </a:solidFill>
                <a:latin typeface="Aptos"/>
              </a:rPr>
              <a:t>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42032" y="2423160"/>
            <a:ext cx="274320" cy="0"/>
          </a:xfrm>
          <a:prstGeom prst="line">
            <a:avLst/>
          </a:prstGeom>
          <a:ln w="25400">
            <a:solidFill>
              <a:srgbClr val="7CE0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0360" y="196596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1F282B"/>
          </a:solidFill>
          <a:ln>
            <a:solidFill>
              <a:srgbClr val="1F2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17520" y="2130552"/>
            <a:ext cx="530352" cy="530352"/>
          </a:xfrm>
          <a:prstGeom prst="ellipse">
            <a:avLst/>
          </a:prstGeom>
          <a:solidFill>
            <a:srgbClr val="F7C95B"/>
          </a:solidFill>
          <a:ln>
            <a:solidFill>
              <a:srgbClr val="F7C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9312" y="2112264"/>
            <a:ext cx="1097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8F9F4"/>
                </a:solidFill>
                <a:latin typeface="Aptos"/>
              </a:rPr>
              <a:t>CALIBRATE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432304"/>
            <a:ext cx="10972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2BEB8"/>
                </a:solidFill>
                <a:latin typeface="Aptos"/>
              </a:rPr>
              <a:t>Six patches + gain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63824" y="2130552"/>
            <a:ext cx="23774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51B1E"/>
                </a:solidFill>
                <a:latin typeface="Aptos"/>
              </a:rP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" y="2423160"/>
            <a:ext cx="274320" cy="0"/>
          </a:xfrm>
          <a:prstGeom prst="line">
            <a:avLst/>
          </a:prstGeom>
          <a:ln w="25400">
            <a:solidFill>
              <a:srgbClr val="7CE0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212079" y="196596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1F282B"/>
          </a:solidFill>
          <a:ln>
            <a:solidFill>
              <a:srgbClr val="1F2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49240" y="2130552"/>
            <a:ext cx="530352" cy="530352"/>
          </a:xfrm>
          <a:prstGeom prst="ellipse">
            <a:avLst/>
          </a:prstGeom>
          <a:solidFill>
            <a:srgbClr val="7CE0BC"/>
          </a:solidFill>
          <a:ln>
            <a:solidFill>
              <a:srgbClr val="7CE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71031" y="2112264"/>
            <a:ext cx="1097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8F9F4"/>
                </a:solidFill>
                <a:latin typeface="Aptos"/>
              </a:rPr>
              <a:t>MEASURE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1031" y="2432304"/>
            <a:ext cx="10972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2BEB8"/>
                </a:solidFill>
                <a:latin typeface="Aptos"/>
              </a:rPr>
              <a:t>ROI + LAB + Delta 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95543" y="2130552"/>
            <a:ext cx="23774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51B1E"/>
                </a:solidFill>
                <a:latin typeface="Aptos"/>
              </a:rPr>
              <a:t>3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205471" y="2423160"/>
            <a:ext cx="274321" cy="0"/>
          </a:xfrm>
          <a:prstGeom prst="line">
            <a:avLst/>
          </a:prstGeom>
          <a:ln w="25400">
            <a:solidFill>
              <a:srgbClr val="7CE0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543800" y="196596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1F282B"/>
          </a:solidFill>
          <a:ln>
            <a:solidFill>
              <a:srgbClr val="1F2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680960" y="2130552"/>
            <a:ext cx="530352" cy="530352"/>
          </a:xfrm>
          <a:prstGeom prst="ellipse">
            <a:avLst/>
          </a:prstGeom>
          <a:solidFill>
            <a:srgbClr val="7CB9FF"/>
          </a:solidFill>
          <a:ln>
            <a:solidFill>
              <a:srgbClr val="7C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02752" y="2112264"/>
            <a:ext cx="1097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8F9F4"/>
                </a:solidFill>
                <a:latin typeface="Aptos"/>
              </a:rPr>
              <a:t>RECORD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2432304"/>
            <a:ext cx="10972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2BEB8"/>
                </a:solidFill>
                <a:latin typeface="Aptos"/>
              </a:rPr>
              <a:t>Hash + chain + 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27264" y="2130552"/>
            <a:ext cx="23774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51B1E"/>
                </a:solidFill>
                <a:latin typeface="Aptos"/>
              </a:rPr>
              <a:t>4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537192" y="2423160"/>
            <a:ext cx="274320" cy="0"/>
          </a:xfrm>
          <a:prstGeom prst="line">
            <a:avLst/>
          </a:prstGeom>
          <a:ln w="25400">
            <a:solidFill>
              <a:srgbClr val="7CE0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875519" y="196596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1F282B"/>
          </a:solidFill>
          <a:ln>
            <a:solidFill>
              <a:srgbClr val="1F2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12680" y="2130552"/>
            <a:ext cx="530352" cy="530352"/>
          </a:xfrm>
          <a:prstGeom prst="ellipse">
            <a:avLst/>
          </a:prstGeom>
          <a:solidFill>
            <a:srgbClr val="F2EDE2"/>
          </a:solidFill>
          <a:ln>
            <a:solidFill>
              <a:srgbClr val="F2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34472" y="2112264"/>
            <a:ext cx="1097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8F9F4"/>
                </a:solidFill>
                <a:latin typeface="Aptos"/>
              </a:rPr>
              <a:t>VERIFY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34472" y="2432304"/>
            <a:ext cx="10972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2BEB8"/>
                </a:solidFill>
                <a:latin typeface="Aptos"/>
              </a:rPr>
              <a:t>JSON + image + QR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58984" y="2130552"/>
            <a:ext cx="23774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51B1E"/>
                </a:solidFill>
                <a:latin typeface="Aptos"/>
              </a:rPr>
              <a:t>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51560" y="3794760"/>
            <a:ext cx="10058400" cy="1188720"/>
          </a:xfrm>
          <a:prstGeom prst="roundRect">
            <a:avLst>
              <a:gd name="adj" fmla="val 12000"/>
            </a:avLst>
          </a:prstGeom>
          <a:solidFill>
            <a:srgbClr val="1F282B"/>
          </a:solidFill>
          <a:ln>
            <a:solidFill>
              <a:srgbClr val="1F2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17320" y="4041648"/>
            <a:ext cx="25603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E0BC"/>
                </a:solidFill>
                <a:latin typeface="Aptos"/>
              </a:rPr>
              <a:t>Every transition is explicit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4416552"/>
            <a:ext cx="9144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8F9F4"/>
                </a:solidFill>
                <a:latin typeface="Aptos Display"/>
              </a:rPr>
              <a:t>KIT VALIDATED  -&gt;  TIMER RUNNING  -&gt;  CAPTURE WINDOW  -&gt;  CARD VALID  -&gt;  RESULT READY  -&gt;  SAVED  -&gt;  EXPORTED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4864608"/>
            <a:ext cx="7680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2BEB8"/>
                </a:solidFill>
                <a:latin typeface="Aptos"/>
              </a:rPr>
              <a:t>Hard gates stop the workflow; soft quality signals explain uncertainty.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537960"/>
            <a:ext cx="4114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>
                <a:solidFill>
                  <a:srgbClr val="B2BEB8"/>
                </a:solidFill>
                <a:latin typeface="Aptos"/>
              </a:rPr>
              <a:t>PRAMAN SETU / SIH26231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6537960"/>
            <a:ext cx="4297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FF7563"/>
                </a:solidFill>
                <a:latin typeface="Aptos"/>
              </a:rPr>
              <a:t>SIMULATED PROTOTYPE - PRESUMPTIVE RESULT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7563"/>
          </a:solidFill>
          <a:ln>
            <a:solidFill>
              <a:srgbClr val="FF7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E0BC"/>
                </a:solidFill>
                <a:latin typeface="Aptos"/>
              </a:rPr>
              <a:t>04 /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F8F9F4"/>
                </a:solidFill>
                <a:latin typeface="Aptos Display"/>
              </a:rPr>
              <a:t>The app does not guess. It measures, gates, and explains.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29768"/>
            <a:ext cx="594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B2BEB8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657600" cy="4480560"/>
          </a:xfrm>
          <a:prstGeom prst="roundRect">
            <a:avLst>
              <a:gd name="adj" fmla="val 12000"/>
            </a:avLst>
          </a:prstGeom>
          <a:solidFill>
            <a:srgbClr val="F2EDE2"/>
          </a:solidFill>
          <a:ln>
            <a:solidFill>
              <a:srgbClr val="F2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2560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A2223"/>
                </a:solidFill>
                <a:latin typeface="Aptos"/>
              </a:rPr>
              <a:t>REFERENCE CARD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148840"/>
            <a:ext cx="658368" cy="658368"/>
          </a:xfrm>
          <a:prstGeom prst="rect">
            <a:avLst/>
          </a:prstGeom>
          <a:solidFill>
            <a:srgbClr val="FAFAF5"/>
          </a:solidFill>
          <a:ln>
            <a:solidFill>
              <a:srgbClr val="FAF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01368" y="2148840"/>
            <a:ext cx="658368" cy="658368"/>
          </a:xfrm>
          <a:prstGeom prst="rect">
            <a:avLst/>
          </a:prstGeom>
          <a:solidFill>
            <a:srgbClr val="121212"/>
          </a:solidFill>
          <a:ln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42616" y="2148840"/>
            <a:ext cx="658368" cy="658368"/>
          </a:xfrm>
          <a:prstGeom prst="rect">
            <a:avLst/>
          </a:prstGeom>
          <a:solidFill>
            <a:srgbClr val="FF7563"/>
          </a:solidFill>
          <a:ln>
            <a:solidFill>
              <a:srgbClr val="FF7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0120" y="2990088"/>
            <a:ext cx="658368" cy="658368"/>
          </a:xfrm>
          <a:prstGeom prst="rect">
            <a:avLst/>
          </a:prstGeom>
          <a:solidFill>
            <a:srgbClr val="7CE0BC"/>
          </a:solidFill>
          <a:ln>
            <a:solidFill>
              <a:srgbClr val="7CE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01368" y="2990088"/>
            <a:ext cx="658368" cy="658368"/>
          </a:xfrm>
          <a:prstGeom prst="rect">
            <a:avLst/>
          </a:prstGeom>
          <a:solidFill>
            <a:srgbClr val="7CB9FF"/>
          </a:solidFill>
          <a:ln>
            <a:solidFill>
              <a:srgbClr val="7C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42616" y="2990088"/>
            <a:ext cx="658368" cy="658368"/>
          </a:xfrm>
          <a:prstGeom prst="rect">
            <a:avLst/>
          </a:prstGeom>
          <a:solidFill>
            <a:srgbClr val="8C8C8C"/>
          </a:solidFill>
          <a:ln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68496"/>
            <a:ext cx="2560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A2223"/>
                </a:solidFill>
                <a:latin typeface="Aptos Display"/>
              </a:rPr>
              <a:t>Tap six known patches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89120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4C5450"/>
                </a:solidFill>
                <a:latin typeface="Aptos"/>
              </a:rPr>
              <a:t>White / black / red / green / blue / gray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047488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88A67"/>
                </a:solidFill>
                <a:latin typeface="Aptos"/>
              </a:rPr>
              <a:t>CARD VALID</a:t>
            </a:r>
          </a:p>
        </p:txBody>
      </p:sp>
      <p:sp>
        <p:nvSpPr>
          <p:cNvPr id="17" name="Oval 16"/>
          <p:cNvSpPr/>
          <p:nvPr/>
        </p:nvSpPr>
        <p:spPr>
          <a:xfrm>
            <a:off x="3246120" y="5010912"/>
            <a:ext cx="310896" cy="310896"/>
          </a:xfrm>
          <a:prstGeom prst="ellipse">
            <a:avLst/>
          </a:prstGeom>
          <a:solidFill>
            <a:srgbClr val="7CE0BC"/>
          </a:solidFill>
          <a:ln>
            <a:solidFill>
              <a:srgbClr val="7CE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1600200"/>
            <a:ext cx="29260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7563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1572768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F8F9F4"/>
                </a:solidFill>
                <a:latin typeface="Aptos"/>
              </a:rPr>
              <a:t>Calibrate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1993392"/>
            <a:ext cx="603504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B2BEB8"/>
                </a:solidFill>
                <a:latin typeface="Aptos"/>
              </a:rPr>
              <a:t>White-patch gain correction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B2BEB8"/>
                </a:solidFill>
                <a:latin typeface="Aptos"/>
              </a:rPr>
              <a:t>Reference-card validation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B2BEB8"/>
                </a:solidFill>
                <a:latin typeface="Aptos"/>
              </a:rPr>
              <a:t>Card version + residual Delta 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3063240"/>
            <a:ext cx="29260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E0BC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3035808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F8F9F4"/>
                </a:solidFill>
                <a:latin typeface="Aptos"/>
              </a:rPr>
              <a:t>Measure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3456432"/>
            <a:ext cx="603504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B2BEB8"/>
                </a:solidFill>
                <a:latin typeface="Aptos"/>
              </a:rPr>
              <a:t>Sample ROI median RGB -&gt; LAB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B2BEB8"/>
                </a:solidFill>
                <a:latin typeface="Aptos"/>
              </a:rPr>
              <a:t>Delta E against the Reference DB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B2BEB8"/>
                </a:solidFill>
                <a:latin typeface="Aptos"/>
              </a:rPr>
              <a:t>Confidence + uncertainty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4535424"/>
            <a:ext cx="29260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B9FF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4507992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F8F9F4"/>
                </a:solidFill>
                <a:latin typeface="Aptos"/>
              </a:rPr>
              <a:t>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4928616"/>
            <a:ext cx="603504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B2BEB8"/>
                </a:solidFill>
                <a:latin typeface="Aptos"/>
              </a:rPr>
              <a:t>Blur / clipping / glare / ROI spread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B2BEB8"/>
                </a:solidFill>
                <a:latin typeface="Aptos"/>
              </a:rPr>
              <a:t>Timing window / card validity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B2BEB8"/>
                </a:solidFill>
                <a:latin typeface="Aptos"/>
              </a:rPr>
              <a:t>Preliminary result or Inconclusive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37960"/>
            <a:ext cx="4114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>
                <a:solidFill>
                  <a:srgbClr val="B2BEB8"/>
                </a:solidFill>
                <a:latin typeface="Aptos"/>
              </a:rPr>
              <a:t>PRAMAN SETU / SIH26231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6537960"/>
            <a:ext cx="4297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FF7563"/>
                </a:solidFill>
                <a:latin typeface="Aptos"/>
              </a:rPr>
              <a:t>SIMULATED PROTOTYPE - PRESUMPTIVE RESULT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7563"/>
          </a:solidFill>
          <a:ln>
            <a:solidFill>
              <a:srgbClr val="FF7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E0BC"/>
                </a:solidFill>
                <a:latin typeface="Aptos"/>
              </a:rPr>
              <a:t>05 /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F8F9F4"/>
                </a:solidFill>
                <a:latin typeface="Aptos Display"/>
              </a:rPr>
              <a:t>Evidence is designed as a bundle, not a screenshot.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29768"/>
            <a:ext cx="594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B2BEB8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7955279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F2EDE2"/>
                </a:solidFill>
                <a:latin typeface="Aptos Display"/>
              </a:rPr>
              <a:t>The original image stays untouched. The analysis copy can change; the evidence identity cannot.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1874519" cy="1417320"/>
          </a:xfrm>
          <a:prstGeom prst="roundRect">
            <a:avLst>
              <a:gd name="adj" fmla="val 12000"/>
            </a:avLst>
          </a:prstGeom>
          <a:solidFill>
            <a:srgbClr val="1F282B"/>
          </a:solidFill>
          <a:ln>
            <a:solidFill>
              <a:srgbClr val="1F2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71600" y="2359152"/>
            <a:ext cx="457200" cy="457200"/>
          </a:xfrm>
          <a:prstGeom prst="ellipse">
            <a:avLst/>
          </a:prstGeom>
          <a:solidFill>
            <a:srgbClr val="FF7563"/>
          </a:solidFill>
          <a:ln>
            <a:solidFill>
              <a:srgbClr val="FF7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944368"/>
            <a:ext cx="1554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8F9F4"/>
                </a:solidFill>
                <a:latin typeface="Aptos"/>
              </a:rPr>
              <a:t>ORIGINAL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200400"/>
            <a:ext cx="1554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B2BEB8"/>
                </a:solidFill>
                <a:latin typeface="Aptos"/>
              </a:rPr>
              <a:t>SHA-256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2852928"/>
            <a:ext cx="283464" cy="0"/>
          </a:xfrm>
          <a:prstGeom prst="line">
            <a:avLst/>
          </a:prstGeom>
          <a:ln w="25400">
            <a:solidFill>
              <a:srgbClr val="7CE0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26080" y="2148840"/>
            <a:ext cx="1874519" cy="1417320"/>
          </a:xfrm>
          <a:prstGeom prst="roundRect">
            <a:avLst>
              <a:gd name="adj" fmla="val 12000"/>
            </a:avLst>
          </a:prstGeom>
          <a:solidFill>
            <a:srgbClr val="1F282B"/>
          </a:solidFill>
          <a:ln>
            <a:solidFill>
              <a:srgbClr val="1F2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39312" y="2359152"/>
            <a:ext cx="457200" cy="457200"/>
          </a:xfrm>
          <a:prstGeom prst="ellipse">
            <a:avLst/>
          </a:prstGeom>
          <a:solidFill>
            <a:srgbClr val="F7C95B"/>
          </a:solidFill>
          <a:ln>
            <a:solidFill>
              <a:srgbClr val="F7C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2944368"/>
            <a:ext cx="1554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8F9F4"/>
                </a:solidFill>
                <a:latin typeface="Aptos"/>
              </a:rPr>
              <a:t>CANONICAL 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200400"/>
            <a:ext cx="1554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B2BEB8"/>
                </a:solidFill>
                <a:latin typeface="Aptos"/>
              </a:rPr>
              <a:t>record bytes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28032" y="2852928"/>
            <a:ext cx="283464" cy="0"/>
          </a:xfrm>
          <a:prstGeom prst="line">
            <a:avLst/>
          </a:prstGeom>
          <a:ln w="25400">
            <a:solidFill>
              <a:srgbClr val="7CE0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93792" y="2148840"/>
            <a:ext cx="1874519" cy="1417320"/>
          </a:xfrm>
          <a:prstGeom prst="roundRect">
            <a:avLst>
              <a:gd name="adj" fmla="val 12000"/>
            </a:avLst>
          </a:prstGeom>
          <a:solidFill>
            <a:srgbClr val="1F282B"/>
          </a:solidFill>
          <a:ln>
            <a:solidFill>
              <a:srgbClr val="1F2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07024" y="2359152"/>
            <a:ext cx="457200" cy="457200"/>
          </a:xfrm>
          <a:prstGeom prst="ellipse">
            <a:avLst/>
          </a:prstGeom>
          <a:solidFill>
            <a:srgbClr val="7CE0BC"/>
          </a:solidFill>
          <a:ln>
            <a:solidFill>
              <a:srgbClr val="7CE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58383" y="2944368"/>
            <a:ext cx="1554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8F9F4"/>
                </a:solidFill>
                <a:latin typeface="Aptos"/>
              </a:rPr>
              <a:t>HASH CHAIN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8383" y="3200400"/>
            <a:ext cx="1554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B2BEB8"/>
                </a:solidFill>
                <a:latin typeface="Aptos"/>
              </a:rPr>
              <a:t>previous_hash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95744" y="2852928"/>
            <a:ext cx="283464" cy="0"/>
          </a:xfrm>
          <a:prstGeom prst="line">
            <a:avLst/>
          </a:prstGeom>
          <a:ln w="25400">
            <a:solidFill>
              <a:srgbClr val="7CE0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461504" y="2148840"/>
            <a:ext cx="1874519" cy="1417320"/>
          </a:xfrm>
          <a:prstGeom prst="roundRect">
            <a:avLst>
              <a:gd name="adj" fmla="val 12000"/>
            </a:avLst>
          </a:prstGeom>
          <a:solidFill>
            <a:srgbClr val="1F282B"/>
          </a:solidFill>
          <a:ln>
            <a:solidFill>
              <a:srgbClr val="1F2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74736" y="2359152"/>
            <a:ext cx="457200" cy="457200"/>
          </a:xfrm>
          <a:prstGeom prst="ellipse">
            <a:avLst/>
          </a:prstGeom>
          <a:solidFill>
            <a:srgbClr val="7CB9FF"/>
          </a:solidFill>
          <a:ln>
            <a:solidFill>
              <a:srgbClr val="7C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6096" y="2944368"/>
            <a:ext cx="1554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8F9F4"/>
                </a:solidFill>
                <a:latin typeface="Aptos"/>
              </a:rPr>
              <a:t>SIGNATURE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6096" y="3200400"/>
            <a:ext cx="1554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B2BEB8"/>
                </a:solidFill>
                <a:latin typeface="Aptos"/>
              </a:rPr>
              <a:t>device key + public key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363456" y="2852928"/>
            <a:ext cx="283464" cy="0"/>
          </a:xfrm>
          <a:prstGeom prst="line">
            <a:avLst/>
          </a:prstGeom>
          <a:ln w="25400">
            <a:solidFill>
              <a:srgbClr val="7CE0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729216" y="2148840"/>
            <a:ext cx="1874519" cy="1417320"/>
          </a:xfrm>
          <a:prstGeom prst="roundRect">
            <a:avLst>
              <a:gd name="adj" fmla="val 12000"/>
            </a:avLst>
          </a:prstGeom>
          <a:solidFill>
            <a:srgbClr val="1F282B"/>
          </a:solidFill>
          <a:ln>
            <a:solidFill>
              <a:srgbClr val="1F2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442448" y="2359152"/>
            <a:ext cx="457200" cy="457200"/>
          </a:xfrm>
          <a:prstGeom prst="ellipse">
            <a:avLst/>
          </a:prstGeom>
          <a:solidFill>
            <a:srgbClr val="F2EDE2"/>
          </a:solidFill>
          <a:ln>
            <a:solidFill>
              <a:srgbClr val="F2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93808" y="2944368"/>
            <a:ext cx="1554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8F9F4"/>
                </a:solidFill>
                <a:latin typeface="Aptos"/>
              </a:rPr>
              <a:t>EXPORT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93808" y="3200400"/>
            <a:ext cx="1554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B2BEB8"/>
                </a:solidFill>
                <a:latin typeface="Aptos"/>
              </a:rPr>
              <a:t>JSON + image + PDF + QR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88720" y="4251960"/>
            <a:ext cx="9784080" cy="868680"/>
          </a:xfrm>
          <a:prstGeom prst="roundRect">
            <a:avLst>
              <a:gd name="adj" fmla="val 12000"/>
            </a:avLst>
          </a:prstGeom>
          <a:solidFill>
            <a:srgbClr val="F2EDE2"/>
          </a:solidFill>
          <a:ln>
            <a:solidFill>
              <a:srgbClr val="F2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08760" y="4526280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A2223"/>
                </a:solidFill>
                <a:latin typeface="Aptos"/>
              </a:rPr>
              <a:t>VERIFY.HTML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4498848"/>
            <a:ext cx="7543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A2223"/>
                </a:solidFill>
                <a:latin typeface="Aptos"/>
              </a:rPr>
              <a:t>recomputes the image hash  |  checks the signature  |  walks the chain  |  reports each status separately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5440680"/>
            <a:ext cx="9509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7563"/>
                </a:solidFill>
                <a:latin typeface="Aptos"/>
              </a:rPr>
              <a:t>Prototype limitation: this is tamper-evident evidence, not trusted timestamping or agency PKI.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537960"/>
            <a:ext cx="4114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>
                <a:solidFill>
                  <a:srgbClr val="B2BEB8"/>
                </a:solidFill>
                <a:latin typeface="Aptos"/>
              </a:rPr>
              <a:t>PRAMAN SETU / SIH26231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6537960"/>
            <a:ext cx="4297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FF7563"/>
                </a:solidFill>
                <a:latin typeface="Aptos"/>
              </a:rPr>
              <a:t>SIMULATED PROTOTYPE - PRESUMPTIVE RESULT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7563"/>
          </a:solidFill>
          <a:ln>
            <a:solidFill>
              <a:srgbClr val="FF7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E0BC"/>
                </a:solidFill>
                <a:latin typeface="Aptos"/>
              </a:rPr>
              <a:t>06 /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F8F9F4"/>
                </a:solidFill>
                <a:latin typeface="Aptos Display"/>
              </a:rPr>
              <a:t>Built for the field: offline first, reviewable later.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29768"/>
            <a:ext cx="594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B2BEB8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71600"/>
            <a:ext cx="3383280" cy="3566160"/>
          </a:xfrm>
          <a:prstGeom prst="roundRect">
            <a:avLst>
              <a:gd name="adj" fmla="val 12000"/>
            </a:avLst>
          </a:prstGeom>
          <a:solidFill>
            <a:srgbClr val="1F282B"/>
          </a:solidFill>
          <a:ln>
            <a:solidFill>
              <a:srgbClr val="1F2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371600"/>
            <a:ext cx="64008" cy="3566160"/>
          </a:xfrm>
          <a:prstGeom prst="rect">
            <a:avLst/>
          </a:prstGeom>
          <a:solidFill>
            <a:srgbClr val="7CE0BC"/>
          </a:solidFill>
          <a:ln>
            <a:solidFill>
              <a:srgbClr val="7CE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54480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E0BC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554480"/>
            <a:ext cx="24688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8F9F4"/>
                </a:solidFill>
                <a:latin typeface="Aptos"/>
              </a:rPr>
              <a:t>OFFLINE QUEUE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56816"/>
            <a:ext cx="2468880" cy="28346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2BEB8"/>
                </a:solidFill>
                <a:latin typeface="Aptos"/>
              </a:rPr>
              <a:t>Every test is saved locally before synchronization.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2BEB8"/>
                </a:solidFill>
                <a:latin typeface="Aptos"/>
              </a:rPr>
              <a:t>PENDING -&gt; SYNCED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2BEB8"/>
                </a:solidFill>
                <a:latin typeface="Aptos"/>
              </a:rPr>
              <a:t>PENDING -&gt; FAILED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2BEB8"/>
                </a:solidFill>
                <a:latin typeface="Aptos"/>
              </a:rPr>
              <a:t>FAILED -&gt; RETRY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2BEB8"/>
                </a:solidFill>
                <a:latin typeface="Aptos"/>
              </a:rPr>
              <a:t>Local evidence is retained in every state.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371600"/>
            <a:ext cx="3383280" cy="3566160"/>
          </a:xfrm>
          <a:prstGeom prst="roundRect">
            <a:avLst>
              <a:gd name="adj" fmla="val 12000"/>
            </a:avLst>
          </a:prstGeom>
          <a:solidFill>
            <a:srgbClr val="1F282B"/>
          </a:solidFill>
          <a:ln>
            <a:solidFill>
              <a:srgbClr val="1F2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371600"/>
            <a:ext cx="64008" cy="3566160"/>
          </a:xfrm>
          <a:prstGeom prst="rect">
            <a:avLst/>
          </a:prstGeom>
          <a:solidFill>
            <a:srgbClr val="7CB9FF"/>
          </a:solidFill>
          <a:ln>
            <a:solidFill>
              <a:srgbClr val="7C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554480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B9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554480"/>
            <a:ext cx="24688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8F9F4"/>
                </a:solidFill>
                <a:latin typeface="Aptos"/>
              </a:rPr>
              <a:t>SUPERVISOR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956816"/>
            <a:ext cx="2468880" cy="28346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2BEB8"/>
                </a:solidFill>
                <a:latin typeface="Aptos"/>
              </a:rPr>
              <a:t>Read-only review of result, capture quality, kit, timing, metadata, and sync state.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2BEB8"/>
                </a:solidFill>
                <a:latin typeface="Aptos"/>
              </a:rPr>
              <a:t>REVIEWED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2BEB8"/>
                </a:solidFill>
                <a:latin typeface="Aptos"/>
              </a:rPr>
              <a:t>REQUIRES RETEST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2BEB8"/>
                </a:solidFill>
                <a:latin typeface="Aptos"/>
              </a:rPr>
              <a:t>REQUIRES LAB CONFIRMATION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1371600"/>
            <a:ext cx="3383280" cy="3566160"/>
          </a:xfrm>
          <a:prstGeom prst="roundRect">
            <a:avLst>
              <a:gd name="adj" fmla="val 12000"/>
            </a:avLst>
          </a:prstGeom>
          <a:solidFill>
            <a:srgbClr val="1F282B"/>
          </a:solidFill>
          <a:ln>
            <a:solidFill>
              <a:srgbClr val="1F2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6448" y="1371600"/>
            <a:ext cx="64008" cy="3566160"/>
          </a:xfrm>
          <a:prstGeom prst="rect">
            <a:avLst/>
          </a:prstGeom>
          <a:solidFill>
            <a:srgbClr val="FF7563"/>
          </a:solidFill>
          <a:ln>
            <a:solidFill>
              <a:srgbClr val="FF7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554480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F7563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1554480"/>
            <a:ext cx="24688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8F9F4"/>
                </a:solidFill>
                <a:latin typeface="Aptos"/>
              </a:rPr>
              <a:t>RETEST, NOT MERGE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956816"/>
            <a:ext cx="2468880" cy="28346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2BEB8"/>
                </a:solidFill>
                <a:latin typeface="Aptos"/>
              </a:rPr>
              <a:t>Test 2 links to Test 1 through retest_of.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2BEB8"/>
                </a:solidFill>
                <a:latin typeface="Aptos"/>
              </a:rPr>
              <a:t>Each record keeps its own image, hash, signature, and chain position.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2BEB8"/>
                </a:solidFill>
                <a:latin typeface="Aptos"/>
              </a:rPr>
              <a:t>Comparison is display-only.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5486400"/>
            <a:ext cx="749807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2EDE2"/>
                </a:solidFill>
                <a:latin typeface="Aptos Display"/>
              </a:rPr>
              <a:t>Field reality is a first-class requirement, not an edge case.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37960"/>
            <a:ext cx="4114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>
                <a:solidFill>
                  <a:srgbClr val="B2BEB8"/>
                </a:solidFill>
                <a:latin typeface="Aptos"/>
              </a:rPr>
              <a:t>PRAMAN SETU / SIH26231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6537960"/>
            <a:ext cx="4297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FF7563"/>
                </a:solidFill>
                <a:latin typeface="Aptos"/>
              </a:rPr>
              <a:t>SIMULATED PROTOTYPE - PRESUMPTIVE RESULT ONLY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7563"/>
          </a:solidFill>
          <a:ln>
            <a:solidFill>
              <a:srgbClr val="FF7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E0BC"/>
                </a:solidFill>
                <a:latin typeface="Aptos"/>
              </a:rPr>
              <a:t>07 /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F8F9F4"/>
                </a:solidFill>
                <a:latin typeface="Aptos Display"/>
              </a:rPr>
              <a:t>A thin mobile workflow around a strong evidence core.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29768"/>
            <a:ext cx="594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B2BEB8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325880"/>
            <a:ext cx="6675120" cy="576072"/>
          </a:xfrm>
          <a:prstGeom prst="roundRect">
            <a:avLst>
              <a:gd name="adj" fmla="val 12000"/>
            </a:avLst>
          </a:prstGeom>
          <a:solidFill>
            <a:srgbClr val="1F282B"/>
          </a:solidFill>
          <a:ln>
            <a:solidFill>
              <a:srgbClr val="1F2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1325880"/>
            <a:ext cx="146304" cy="576072"/>
          </a:xfrm>
          <a:prstGeom prst="rect">
            <a:avLst/>
          </a:prstGeom>
          <a:solidFill>
            <a:srgbClr val="FF7563"/>
          </a:solidFill>
          <a:ln>
            <a:solidFill>
              <a:srgbClr val="FF7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463039"/>
            <a:ext cx="12801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F7563"/>
                </a:solidFill>
                <a:latin typeface="Aptos"/>
              </a:rPr>
              <a:t>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453895"/>
            <a:ext cx="4572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8F9F4"/>
                </a:solidFill>
                <a:latin typeface="Aptos"/>
              </a:rPr>
              <a:t>React Native screens, navigation, role routes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2121408"/>
            <a:ext cx="6675120" cy="576072"/>
          </a:xfrm>
          <a:prstGeom prst="roundRect">
            <a:avLst>
              <a:gd name="adj" fmla="val 12000"/>
            </a:avLst>
          </a:prstGeom>
          <a:solidFill>
            <a:srgbClr val="1F282B"/>
          </a:solidFill>
          <a:ln>
            <a:solidFill>
              <a:srgbClr val="1F2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" y="2121408"/>
            <a:ext cx="146304" cy="576072"/>
          </a:xfrm>
          <a:prstGeom prst="rect">
            <a:avLst/>
          </a:prstGeom>
          <a:solidFill>
            <a:srgbClr val="F7C95B"/>
          </a:solidFill>
          <a:ln>
            <a:solidFill>
              <a:srgbClr val="F7C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258568"/>
            <a:ext cx="12801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7C95B"/>
                </a:solidFill>
                <a:latin typeface="Aptos"/>
              </a:rPr>
              <a:t>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249424"/>
            <a:ext cx="4572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8F9F4"/>
                </a:solidFill>
                <a:latin typeface="Aptos"/>
              </a:rPr>
              <a:t>test state machine, timer, quality gates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2916936"/>
            <a:ext cx="6675120" cy="576072"/>
          </a:xfrm>
          <a:prstGeom prst="roundRect">
            <a:avLst>
              <a:gd name="adj" fmla="val 12000"/>
            </a:avLst>
          </a:prstGeom>
          <a:solidFill>
            <a:srgbClr val="1F282B"/>
          </a:solidFill>
          <a:ln>
            <a:solidFill>
              <a:srgbClr val="1F2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" y="2916936"/>
            <a:ext cx="146304" cy="576072"/>
          </a:xfrm>
          <a:prstGeom prst="rect">
            <a:avLst/>
          </a:prstGeom>
          <a:solidFill>
            <a:srgbClr val="7CE0BC"/>
          </a:solidFill>
          <a:ln>
            <a:solidFill>
              <a:srgbClr val="7CE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054096"/>
            <a:ext cx="12801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E0BC"/>
                </a:solidFill>
                <a:latin typeface="Aptos"/>
              </a:rPr>
              <a:t>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044952"/>
            <a:ext cx="4572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8F9F4"/>
                </a:solidFill>
                <a:latin typeface="Aptos"/>
              </a:rPr>
              <a:t>calibration, LAB/Delta E, evidence builder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3712463"/>
            <a:ext cx="6675120" cy="576072"/>
          </a:xfrm>
          <a:prstGeom prst="roundRect">
            <a:avLst>
              <a:gd name="adj" fmla="val 12000"/>
            </a:avLst>
          </a:prstGeom>
          <a:solidFill>
            <a:srgbClr val="1F282B"/>
          </a:solidFill>
          <a:ln>
            <a:solidFill>
              <a:srgbClr val="1F2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" y="3712463"/>
            <a:ext cx="146304" cy="576072"/>
          </a:xfrm>
          <a:prstGeom prst="rect">
            <a:avLst/>
          </a:prstGeom>
          <a:solidFill>
            <a:srgbClr val="7CB9FF"/>
          </a:solidFill>
          <a:ln>
            <a:solidFill>
              <a:srgbClr val="7C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3849624"/>
            <a:ext cx="12801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B9FF"/>
                </a:solidFill>
                <a:latin typeface="Aptos"/>
              </a:rPr>
              <a:t>ADAPTERS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3840479"/>
            <a:ext cx="4572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8F9F4"/>
                </a:solidFill>
                <a:latin typeface="Aptos"/>
              </a:rPr>
              <a:t>VisionCamera, OpenCV, SQLite, GPS, keys, PDF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" y="4507992"/>
            <a:ext cx="6675120" cy="576072"/>
          </a:xfrm>
          <a:prstGeom prst="roundRect">
            <a:avLst>
              <a:gd name="adj" fmla="val 12000"/>
            </a:avLst>
          </a:prstGeom>
          <a:solidFill>
            <a:srgbClr val="1F282B"/>
          </a:solidFill>
          <a:ln>
            <a:solidFill>
              <a:srgbClr val="1F2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6384" y="4507992"/>
            <a:ext cx="146304" cy="576072"/>
          </a:xfrm>
          <a:prstGeom prst="rect">
            <a:avLst/>
          </a:prstGeom>
          <a:solidFill>
            <a:srgbClr val="F2EDE2"/>
          </a:solidFill>
          <a:ln>
            <a:solidFill>
              <a:srgbClr val="F2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4645152"/>
            <a:ext cx="12801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2EDE2"/>
                </a:solidFill>
                <a:latin typeface="Aptos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4636007"/>
            <a:ext cx="4572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8F9F4"/>
                </a:solidFill>
                <a:latin typeface="Aptos"/>
              </a:rPr>
              <a:t>canonical JSON + image + signature checks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1417320"/>
            <a:ext cx="2926080" cy="3611880"/>
          </a:xfrm>
          <a:prstGeom prst="roundRect">
            <a:avLst>
              <a:gd name="adj" fmla="val 12000"/>
            </a:avLst>
          </a:prstGeom>
          <a:solidFill>
            <a:srgbClr val="F2EDE2"/>
          </a:solidFill>
          <a:ln>
            <a:solidFill>
              <a:srgbClr val="F2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77072" y="1783080"/>
            <a:ext cx="224028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1A2223"/>
                </a:solidFill>
                <a:latin typeface="Aptos Display"/>
              </a:rPr>
              <a:t>PROTOTYPE</a:t>
            </a:r>
          </a:p>
          <a:p>
            <a:pPr algn="ctr">
              <a:spcAft>
                <a:spcPts val="300"/>
              </a:spcAft>
            </a:pPr>
            <a:r>
              <a:rPr sz="1900" b="1">
                <a:solidFill>
                  <a:srgbClr val="1A2223"/>
                </a:solidFill>
                <a:latin typeface="Aptos Display"/>
              </a:rPr>
              <a:t>BOUNDARY</a:t>
            </a:r>
          </a:p>
        </p:txBody>
      </p:sp>
      <p:sp>
        <p:nvSpPr>
          <p:cNvPr id="28" name="Oval 27"/>
          <p:cNvSpPr/>
          <p:nvPr/>
        </p:nvSpPr>
        <p:spPr>
          <a:xfrm>
            <a:off x="8549640" y="2926080"/>
            <a:ext cx="91440" cy="91440"/>
          </a:xfrm>
          <a:prstGeom prst="ellipse">
            <a:avLst/>
          </a:prstGeom>
          <a:solidFill>
            <a:srgbClr val="FF7563"/>
          </a:solidFill>
          <a:ln>
            <a:solidFill>
              <a:srgbClr val="FF7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50808" y="2834640"/>
            <a:ext cx="194767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4C5450"/>
                </a:solidFill>
                <a:latin typeface="Aptos"/>
              </a:rPr>
              <a:t>Bundled Reference DB</a:t>
            </a:r>
          </a:p>
        </p:txBody>
      </p:sp>
      <p:sp>
        <p:nvSpPr>
          <p:cNvPr id="30" name="Oval 29"/>
          <p:cNvSpPr/>
          <p:nvPr/>
        </p:nvSpPr>
        <p:spPr>
          <a:xfrm>
            <a:off x="8549640" y="3319272"/>
            <a:ext cx="91440" cy="91440"/>
          </a:xfrm>
          <a:prstGeom prst="ellipse">
            <a:avLst/>
          </a:prstGeom>
          <a:solidFill>
            <a:srgbClr val="FF7563"/>
          </a:solidFill>
          <a:ln>
            <a:solidFill>
              <a:srgbClr val="FF7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50808" y="3227832"/>
            <a:ext cx="194767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4C5450"/>
                </a:solidFill>
                <a:latin typeface="Aptos"/>
              </a:rPr>
              <a:t>Local SQLite</a:t>
            </a:r>
          </a:p>
        </p:txBody>
      </p:sp>
      <p:sp>
        <p:nvSpPr>
          <p:cNvPr id="32" name="Oval 31"/>
          <p:cNvSpPr/>
          <p:nvPr/>
        </p:nvSpPr>
        <p:spPr>
          <a:xfrm>
            <a:off x="8549640" y="3712463"/>
            <a:ext cx="91440" cy="91440"/>
          </a:xfrm>
          <a:prstGeom prst="ellipse">
            <a:avLst/>
          </a:prstGeom>
          <a:solidFill>
            <a:srgbClr val="FF7563"/>
          </a:solidFill>
          <a:ln>
            <a:solidFill>
              <a:srgbClr val="FF7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50808" y="3621024"/>
            <a:ext cx="194767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4C5450"/>
                </a:solidFill>
                <a:latin typeface="Aptos"/>
              </a:rPr>
              <a:t>Mock sync adapter</a:t>
            </a:r>
          </a:p>
        </p:txBody>
      </p:sp>
      <p:sp>
        <p:nvSpPr>
          <p:cNvPr id="34" name="Oval 33"/>
          <p:cNvSpPr/>
          <p:nvPr/>
        </p:nvSpPr>
        <p:spPr>
          <a:xfrm>
            <a:off x="8549640" y="4105656"/>
            <a:ext cx="91440" cy="91440"/>
          </a:xfrm>
          <a:prstGeom prst="ellipse">
            <a:avLst/>
          </a:prstGeom>
          <a:solidFill>
            <a:srgbClr val="FF7563"/>
          </a:solidFill>
          <a:ln>
            <a:solidFill>
              <a:srgbClr val="FF7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50808" y="4014216"/>
            <a:ext cx="194767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4C5450"/>
                </a:solidFill>
                <a:latin typeface="Aptos"/>
              </a:rPr>
              <a:t>Prototype signing</a:t>
            </a:r>
          </a:p>
        </p:txBody>
      </p:sp>
      <p:sp>
        <p:nvSpPr>
          <p:cNvPr id="36" name="Oval 35"/>
          <p:cNvSpPr/>
          <p:nvPr/>
        </p:nvSpPr>
        <p:spPr>
          <a:xfrm>
            <a:off x="8549640" y="4498848"/>
            <a:ext cx="91440" cy="91440"/>
          </a:xfrm>
          <a:prstGeom prst="ellipse">
            <a:avLst/>
          </a:prstGeom>
          <a:solidFill>
            <a:srgbClr val="FF7563"/>
          </a:solidFill>
          <a:ln>
            <a:solidFill>
              <a:srgbClr val="FF7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50808" y="4407408"/>
            <a:ext cx="194767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4C5450"/>
                </a:solidFill>
                <a:latin typeface="Aptos"/>
              </a:rPr>
              <a:t>No legal-evidence claim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577840"/>
            <a:ext cx="7315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7CE0BC"/>
                </a:solidFill>
                <a:latin typeface="Aptos Display"/>
              </a:rPr>
              <a:t>One canonical export contract connects the app to verify.html.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537960"/>
            <a:ext cx="4114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>
                <a:solidFill>
                  <a:srgbClr val="B2BEB8"/>
                </a:solidFill>
                <a:latin typeface="Aptos"/>
              </a:rPr>
              <a:t>PRAMAN SETU / SIH26231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6537960"/>
            <a:ext cx="4297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FF7563"/>
                </a:solidFill>
                <a:latin typeface="Aptos"/>
              </a:rPr>
              <a:t>SIMULATED PROTOTYPE - PRESUMPTIVE RESULT ONLY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7563"/>
          </a:solidFill>
          <a:ln>
            <a:solidFill>
              <a:srgbClr val="FF7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E0BC"/>
                </a:solidFill>
                <a:latin typeface="Aptos"/>
              </a:rPr>
              <a:t>08 /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F8F9F4"/>
                </a:solidFill>
                <a:latin typeface="Aptos Display"/>
              </a:rPr>
              <a:t>The demo proves the workflow without pretending to prove a drug.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29768"/>
            <a:ext cx="594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B2BEB8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657600" cy="4343400"/>
          </a:xfrm>
          <a:prstGeom prst="roundRect">
            <a:avLst>
              <a:gd name="adj" fmla="val 12000"/>
            </a:avLst>
          </a:prstGeom>
          <a:solidFill>
            <a:srgbClr val="FF7563"/>
          </a:solidFill>
          <a:ln>
            <a:solidFill>
              <a:srgbClr val="FF7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301752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300" b="1">
                <a:solidFill>
                  <a:srgbClr val="F8F9F4"/>
                </a:solidFill>
                <a:latin typeface="Aptos Display"/>
              </a:rPr>
              <a:t>SIMULATED</a:t>
            </a:r>
          </a:p>
          <a:p>
            <a:pPr algn="ctr">
              <a:spcAft>
                <a:spcPts val="300"/>
              </a:spcAft>
            </a:pPr>
            <a:r>
              <a:rPr sz="2300" b="1">
                <a:solidFill>
                  <a:srgbClr val="F8F9F4"/>
                </a:solidFill>
                <a:latin typeface="Aptos Display"/>
              </a:rPr>
              <a:t>- NOT A DRUG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92608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8F9F4"/>
                </a:solidFill>
                <a:latin typeface="Aptos"/>
              </a:rPr>
              <a:t>Use printed swatches, colored-water vials, simulated pouches, or printed rectangles. Never attach a simulated color to a named substance.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389120"/>
            <a:ext cx="292608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8F9F4"/>
                </a:solidFill>
                <a:latin typeface="Aptos"/>
              </a:rPr>
              <a:t>The judge sees the same controls: QR validation, timer lock, card validation, quality gate, retest, verification, and review.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417320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E0BC"/>
                </a:solidFill>
                <a:latin typeface="Aptos"/>
              </a:rPr>
              <a:t>JUDGE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1828800"/>
            <a:ext cx="384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7563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1828800"/>
            <a:ext cx="1280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8F9F4"/>
                </a:solidFill>
                <a:latin typeface="Aptos"/>
              </a:rPr>
              <a:t>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828800"/>
            <a:ext cx="4206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B2BEB8"/>
                </a:solidFill>
                <a:latin typeface="Aptos"/>
              </a:rPr>
              <a:t>Valid kit QR continues; expired kit blocks.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651760"/>
            <a:ext cx="384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7563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2651760"/>
            <a:ext cx="1280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8F9F4"/>
                </a:solidFill>
                <a:latin typeface="Aptos"/>
              </a:rPr>
              <a:t>Capture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651760"/>
            <a:ext cx="4206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B2BEB8"/>
                </a:solidFill>
                <a:latin typeface="Aptos"/>
              </a:rPr>
              <a:t>Reference card + simulated sample.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474720"/>
            <a:ext cx="384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7563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3474720"/>
            <a:ext cx="1280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8F9F4"/>
                </a:solidFill>
                <a:latin typeface="Aptos"/>
              </a:rPr>
              <a:t>Classify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3474720"/>
            <a:ext cx="4206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B2BEB8"/>
                </a:solidFill>
                <a:latin typeface="Aptos"/>
              </a:rPr>
              <a:t>Preliminary result with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4297680"/>
            <a:ext cx="384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7563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4297680"/>
            <a:ext cx="1280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8F9F4"/>
                </a:solidFill>
                <a:latin typeface="Aptos"/>
              </a:rPr>
              <a:t>Prove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4297680"/>
            <a:ext cx="4206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B2BEB8"/>
                </a:solidFill>
                <a:latin typeface="Aptos"/>
              </a:rPr>
              <a:t>Hash, signature, PDF, QR, verification.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5257800"/>
            <a:ext cx="6400800" cy="502920"/>
          </a:xfrm>
          <a:prstGeom prst="roundRect">
            <a:avLst>
              <a:gd name="adj" fmla="val 12000"/>
            </a:avLst>
          </a:prstGeom>
          <a:solidFill>
            <a:srgbClr val="1F282B"/>
          </a:solidFill>
          <a:ln>
            <a:solidFill>
              <a:srgbClr val="1F2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6360" y="5413248"/>
            <a:ext cx="59436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2EDE2"/>
                </a:solidFill>
                <a:latin typeface="Aptos"/>
              </a:rPr>
              <a:t>Every screen carries the presumptive-result disclaimer.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537960"/>
            <a:ext cx="4114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>
                <a:solidFill>
                  <a:srgbClr val="B2BEB8"/>
                </a:solidFill>
                <a:latin typeface="Aptos"/>
              </a:rPr>
              <a:t>PRAMAN SETU / SIH26231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6537960"/>
            <a:ext cx="4297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FF7563"/>
                </a:solidFill>
                <a:latin typeface="Aptos"/>
              </a:rPr>
              <a:t>SIMULATED PROTOTYPE - PRESUMPTIVE RESULT ONLY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7563"/>
          </a:solidFill>
          <a:ln>
            <a:solidFill>
              <a:srgbClr val="FF7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E0BC"/>
                </a:solidFill>
                <a:latin typeface="Aptos"/>
              </a:rPr>
              <a:t>09 /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F8F9F4"/>
                </a:solidFill>
                <a:latin typeface="Aptos Display"/>
              </a:rPr>
              <a:t>A stronger field record, without changing the field kit.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29768"/>
            <a:ext cx="594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B2BEB8"/>
                </a:solidFill>
                <a:latin typeface="Aptos"/>
              </a:rPr>
              <a:t>010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07592"/>
            <a:ext cx="77724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>
                <a:solidFill>
                  <a:srgbClr val="F2EDE2"/>
                </a:solidFill>
                <a:latin typeface="Aptos Display"/>
              </a:rPr>
              <a:t>Praman Setu does not replace the chemistry. It improves the moment around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5074920" cy="1298448"/>
          </a:xfrm>
          <a:prstGeom prst="roundRect">
            <a:avLst>
              <a:gd name="adj" fmla="val 12000"/>
            </a:avLst>
          </a:prstGeom>
          <a:solidFill>
            <a:srgbClr val="1F282B"/>
          </a:solidFill>
          <a:ln>
            <a:solidFill>
              <a:srgbClr val="1F2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057400"/>
            <a:ext cx="64008" cy="1298448"/>
          </a:xfrm>
          <a:prstGeom prst="rect">
            <a:avLst/>
          </a:prstGeom>
          <a:solidFill>
            <a:srgbClr val="FF7563"/>
          </a:solidFill>
          <a:ln>
            <a:solidFill>
              <a:srgbClr val="FF7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240280"/>
            <a:ext cx="46177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8F9F4"/>
                </a:solidFill>
                <a:latin typeface="Aptos"/>
              </a:rPr>
              <a:t>CONSISTENCY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642616"/>
            <a:ext cx="4617720" cy="5669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2BEB8"/>
                </a:solidFill>
                <a:latin typeface="Aptos"/>
              </a:rPr>
              <a:t>Calibrated image capture reduces subjective color interpretation.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057400"/>
            <a:ext cx="5074920" cy="1298448"/>
          </a:xfrm>
          <a:prstGeom prst="roundRect">
            <a:avLst>
              <a:gd name="adj" fmla="val 12000"/>
            </a:avLst>
          </a:prstGeom>
          <a:solidFill>
            <a:srgbClr val="1F282B"/>
          </a:solidFill>
          <a:ln>
            <a:solidFill>
              <a:srgbClr val="1F2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057400"/>
            <a:ext cx="64008" cy="1298448"/>
          </a:xfrm>
          <a:prstGeom prst="rect">
            <a:avLst/>
          </a:prstGeom>
          <a:solidFill>
            <a:srgbClr val="7CE0BC"/>
          </a:solidFill>
          <a:ln>
            <a:solidFill>
              <a:srgbClr val="7CE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2240280"/>
            <a:ext cx="46177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8F9F4"/>
                </a:solidFill>
                <a:latin typeface="Aptos"/>
              </a:rPr>
              <a:t>ACCOUNTABILITY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642616"/>
            <a:ext cx="4617720" cy="5669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2BEB8"/>
                </a:solidFill>
                <a:latin typeface="Aptos"/>
              </a:rPr>
              <a:t>Timestamp, GPS, operator, kit, timing, and image identity travel together.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749039"/>
            <a:ext cx="5074920" cy="1298448"/>
          </a:xfrm>
          <a:prstGeom prst="roundRect">
            <a:avLst>
              <a:gd name="adj" fmla="val 12000"/>
            </a:avLst>
          </a:prstGeom>
          <a:solidFill>
            <a:srgbClr val="1F282B"/>
          </a:solidFill>
          <a:ln>
            <a:solidFill>
              <a:srgbClr val="1F2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749039"/>
            <a:ext cx="64008" cy="1298448"/>
          </a:xfrm>
          <a:prstGeom prst="rect">
            <a:avLst/>
          </a:prstGeom>
          <a:solidFill>
            <a:srgbClr val="7CB9FF"/>
          </a:solidFill>
          <a:ln>
            <a:solidFill>
              <a:srgbClr val="7C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931920"/>
            <a:ext cx="46177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8F9F4"/>
                </a:solidFill>
                <a:latin typeface="Aptos"/>
              </a:rPr>
              <a:t>CONTINUITY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4334255"/>
            <a:ext cx="4617720" cy="5669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2BEB8"/>
                </a:solidFill>
                <a:latin typeface="Aptos"/>
              </a:rPr>
              <a:t>Offline records survive weak connectivity and can be reviewed later.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749039"/>
            <a:ext cx="5074920" cy="1298448"/>
          </a:xfrm>
          <a:prstGeom prst="roundRect">
            <a:avLst>
              <a:gd name="adj" fmla="val 12000"/>
            </a:avLst>
          </a:prstGeom>
          <a:solidFill>
            <a:srgbClr val="1F282B"/>
          </a:solidFill>
          <a:ln>
            <a:solidFill>
              <a:srgbClr val="1F2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749039"/>
            <a:ext cx="64008" cy="1298448"/>
          </a:xfrm>
          <a:prstGeom prst="rect">
            <a:avLst/>
          </a:prstGeom>
          <a:solidFill>
            <a:srgbClr val="F7C95B"/>
          </a:solidFill>
          <a:ln>
            <a:solidFill>
              <a:srgbClr val="F7C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3931920"/>
            <a:ext cx="46177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8F9F4"/>
                </a:solidFill>
                <a:latin typeface="Aptos"/>
              </a:rPr>
              <a:t>CAUTION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4334255"/>
            <a:ext cx="4617720" cy="5669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2BEB8"/>
                </a:solidFill>
                <a:latin typeface="Aptos"/>
              </a:rPr>
              <a:t>Inconclusive results and laboratory confirmation remain visible, never hidden.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669280"/>
            <a:ext cx="8961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E0BC"/>
                </a:solidFill>
                <a:latin typeface="Aptos Display"/>
              </a:rPr>
              <a:t>Prototype deliverable: a working, explainable, judge-ready field workflow.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537960"/>
            <a:ext cx="4114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>
                <a:solidFill>
                  <a:srgbClr val="B2BEB8"/>
                </a:solidFill>
                <a:latin typeface="Aptos"/>
              </a:rPr>
              <a:t>PRAMAN SETU / SIH26231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6537960"/>
            <a:ext cx="4297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FF7563"/>
                </a:solidFill>
                <a:latin typeface="Aptos"/>
              </a:rPr>
              <a:t>SIMULATED PROTOTYPE - PRESUMPTIVE RESULT ONLY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7563"/>
          </a:solidFill>
          <a:ln>
            <a:solidFill>
              <a:srgbClr val="FF7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76809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900" b="1">
                <a:solidFill>
                  <a:srgbClr val="F8F9F4"/>
                </a:solidFill>
                <a:latin typeface="Aptos Display"/>
              </a:rPr>
              <a:t>Praman Setu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874519"/>
            <a:ext cx="676656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F2EDE2"/>
                </a:solidFill>
                <a:latin typeface="Aptos Display"/>
              </a:rPr>
              <a:t>Make the presumptive result visible.</a:t>
            </a:r>
          </a:p>
          <a:p>
            <a:pPr algn="l">
              <a:spcAft>
                <a:spcPts val="300"/>
              </a:spcAft>
            </a:pPr>
            <a:r>
              <a:rPr sz="2500" b="1">
                <a:solidFill>
                  <a:srgbClr val="F2EDE2"/>
                </a:solidFill>
                <a:latin typeface="Aptos Display"/>
              </a:rPr>
              <a:t>Make the record verifiable.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3246120"/>
            <a:ext cx="5943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7CE0BC"/>
                </a:solidFill>
                <a:latin typeface="Aptos"/>
              </a:rPr>
              <a:t>SIH26231  /  Ministry of Home Affairs  /  Software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078992"/>
            <a:ext cx="3154680" cy="3337560"/>
          </a:xfrm>
          <a:prstGeom prst="roundRect">
            <a:avLst>
              <a:gd name="adj" fmla="val 12000"/>
            </a:avLst>
          </a:prstGeom>
          <a:solidFill>
            <a:srgbClr val="F2EDE2"/>
          </a:solidFill>
          <a:ln>
            <a:solidFill>
              <a:srgbClr val="F2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508760"/>
            <a:ext cx="2286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A2223"/>
                </a:solidFill>
                <a:latin typeface="Aptos"/>
              </a:rPr>
              <a:t>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2011680"/>
            <a:ext cx="2743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7563"/>
                </a:solidFill>
                <a:latin typeface="Aptos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606040"/>
            <a:ext cx="2286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A2223"/>
                </a:solidFill>
                <a:latin typeface="Aptos"/>
              </a:rPr>
              <a:t>CALIBRATE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3108960"/>
            <a:ext cx="2743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7563"/>
                </a:solidFill>
                <a:latin typeface="Aptos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3703320"/>
            <a:ext cx="2286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A2223"/>
                </a:solidFill>
                <a:latin typeface="Aptos"/>
              </a:rP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6126480"/>
            <a:ext cx="4572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7563"/>
                </a:solidFill>
                <a:latin typeface="Aptos"/>
              </a:rPr>
              <a:t>SIMULATED PROTOTYPE - PRESUMPTIVE RESULT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46520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B2BEB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
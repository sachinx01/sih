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h.gov.in/sih2026PS" TargetMode="External"/><Relationship Id="rId3" Type="http://schemas.openxmlformats.org/officeDocument/2006/relationships/hyperlink" Target="https://www.mha.gov.in/" TargetMode="External"/><Relationship Id="rId4" Type="http://schemas.openxmlformats.org/officeDocument/2006/relationships/hyperlink" Target="https://narcoticsindia.nic.in/" TargetMode="External"/><Relationship Id="rId5" Type="http://schemas.openxmlformats.org/officeDocument/2006/relationships/hyperlink" Target="https://www.indiacode.nic.in/" TargetMode="External"/><Relationship Id="rId6" Type="http://schemas.openxmlformats.org/officeDocument/2006/relationships/hyperlink" Target="https://reactnative.dev/" TargetMode="External"/><Relationship Id="rId7" Type="http://schemas.openxmlformats.org/officeDocument/2006/relationships/hyperlink" Target="https://docs.opencv.org/" TargetMode="External"/><Relationship Id="rId8" Type="http://schemas.openxmlformats.org/officeDocument/2006/relationships/hyperlink" Target="https://www.sqlite.org/docs.html" TargetMode="External"/><Relationship Id="rId9" Type="http://schemas.openxmlformats.org/officeDocument/2006/relationships/hyperlink" Target="https://csrc.nist.gov/pubs/fips/180-4/upd1/fina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4572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7CB"/>
                </a:solidFill>
                <a:latin typeface="Aptos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66751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PRAMAN 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7040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EFF6FA"/>
                </a:solidFill>
                <a:latin typeface="Aptos Display"/>
              </a:rPr>
              <a:t>Digital Companion for Field Drug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16352"/>
            <a:ext cx="5897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DDDE8"/>
                </a:solidFill>
                <a:latin typeface="Aptos"/>
              </a:rPr>
              <a:t>A camera-led, offline-first workflow for calibrated presumptive results and tamper-evident field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41648"/>
            <a:ext cx="1234440" cy="283464"/>
          </a:xfrm>
          <a:prstGeom prst="round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SIH26231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4041648"/>
            <a:ext cx="2331720" cy="283464"/>
          </a:xfrm>
          <a:prstGeom prst="round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069080"/>
            <a:ext cx="23317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MINISTRY OF HOME AFFAIRS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041648"/>
            <a:ext cx="1005840" cy="283464"/>
          </a:xfrm>
          <a:prstGeom prst="round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914400"/>
            <a:ext cx="3154680" cy="448056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07592"/>
            <a:ext cx="2240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D223B"/>
                </a:solidFill>
                <a:latin typeface="Aptos"/>
              </a:rPr>
              <a:t>REFERENCE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D223B"/>
                </a:solidFill>
                <a:latin typeface="Aptos"/>
              </a:rPr>
              <a:t>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7" y="2240280"/>
            <a:ext cx="521207" cy="521207"/>
          </a:xfrm>
          <a:prstGeom prst="rect">
            <a:avLst/>
          </a:prstGeom>
          <a:solidFill>
            <a:srgbClr val="FAFAF4"/>
          </a:solidFill>
          <a:ln>
            <a:solidFill>
              <a:srgbClr val="FAF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34272" y="2240280"/>
            <a:ext cx="521207" cy="521207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29215" y="2240280"/>
            <a:ext cx="521207" cy="521207"/>
          </a:xfrm>
          <a:prstGeom prst="rect">
            <a:avLst/>
          </a:prstGeom>
          <a:solidFill>
            <a:srgbClr val="BE3F44"/>
          </a:solidFill>
          <a:ln>
            <a:solidFill>
              <a:srgbClr val="BE3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7" y="2935224"/>
            <a:ext cx="521207" cy="521207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2935224"/>
            <a:ext cx="521207" cy="521207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29215" y="2935224"/>
            <a:ext cx="521207" cy="521207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4464" y="3977639"/>
            <a:ext cx="2240280" cy="658368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160520"/>
            <a:ext cx="22402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DB7CB"/>
                </a:solidFill>
                <a:latin typeface="Aptos"/>
              </a:rPr>
              <a:t>CARD 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70448"/>
            <a:ext cx="3657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Problem Statement ID: SIH26231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647688"/>
            <a:ext cx="393192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From a subjective color reading to a documented field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8988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D223B"/>
                </a:solidFill>
                <a:latin typeface="Aptos Display"/>
              </a:rPr>
              <a:t>Praman Setu works alongside existing colorimetric kits - no new hardware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965960"/>
            <a:ext cx="82296" cy="1371600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CALIBRATED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Camera overlay aligns the reference card and test kit. Six known patches correct lighting and white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965960"/>
            <a:ext cx="82296" cy="1371600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EXPLAINABLE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LAB color measurement, Delta E, confidence, quality score, timing gates, and explicit Inconclusive reasons.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8816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965960"/>
            <a:ext cx="82296" cy="1371600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3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TAMPER-EVIDENT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Original image hash, timestamp, GPS, operator, kit metadata, hash chain, device signature, and QR/PDF export.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965960"/>
            <a:ext cx="210312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965960"/>
            <a:ext cx="82296" cy="1371600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2130552"/>
            <a:ext cx="17373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OFFLINE FIELD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487168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SQLite-first records with PENDING, SYNCED, and FAILED states. Supervisor review remains read-only.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977639"/>
            <a:ext cx="11018520" cy="1234440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79392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ptos Display"/>
              </a:rPr>
              <a:t>CAPTURE  -&gt;  CALIBRATE  -&gt;  CLASSIFY  -&gt;  SIGN  -&gt; 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91456"/>
            <a:ext cx="10332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DDDE8"/>
                </a:solidFill>
                <a:latin typeface="Aptos"/>
              </a:rPr>
              <a:t>Output: Preliminary Positive / Preliminary Negative / Inconclusive - never a replacement for laboratory confirmation.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5955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Innovation and uniqueness</a:t>
            </a:r>
          </a:p>
        </p:txBody>
      </p:sp>
      <p:sp>
        <p:nvSpPr>
          <p:cNvPr id="31" name="Oval 30"/>
          <p:cNvSpPr/>
          <p:nvPr/>
        </p:nvSpPr>
        <p:spPr>
          <a:xfrm>
            <a:off x="2331720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5513832"/>
            <a:ext cx="23774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Reference-card calibration + quality gates</a:t>
            </a:r>
          </a:p>
        </p:txBody>
      </p:sp>
      <p:sp>
        <p:nvSpPr>
          <p:cNvPr id="33" name="Oval 32"/>
          <p:cNvSpPr/>
          <p:nvPr/>
        </p:nvSpPr>
        <p:spPr>
          <a:xfrm>
            <a:off x="5010912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551383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Cryptographic evidence identity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513832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Offline-first + retest comparison</a:t>
            </a:r>
          </a:p>
        </p:txBody>
      </p:sp>
      <p:sp>
        <p:nvSpPr>
          <p:cNvPr id="37" name="Oval 36"/>
          <p:cNvSpPr/>
          <p:nvPr/>
        </p:nvSpPr>
        <p:spPr>
          <a:xfrm>
            <a:off x="9893808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5513832"/>
            <a:ext cx="1417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Simulation-safe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A mobile workflow around a versioned Reference DB and canonical evidence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828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91640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91640"/>
            <a:ext cx="82296" cy="71323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5623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12848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React Native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Cross-platform mobile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82296" cy="7132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5623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12848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VisionCamera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Capture, preview, QR/barcode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587752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587752"/>
            <a:ext cx="82296" cy="7132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52344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IMAGE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08960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OpenCV adapter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Blur, glare, clipping, ROI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87752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587752"/>
            <a:ext cx="82296" cy="7132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752344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COLOR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108960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LAB + Delta 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Gain correction and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483864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483864"/>
            <a:ext cx="82296" cy="71323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648456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005072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SQLite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Migrations + transactional offline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83864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483864"/>
            <a:ext cx="82296" cy="7132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648456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CRYPTO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005072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Quick Crypto + Keystore/Keychain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SHA-256, signature, public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379976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379976"/>
            <a:ext cx="82296" cy="7132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544568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901184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HTML-to-PDF + QR SVG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Evidence report and verification bundle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379976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379976"/>
            <a:ext cx="82296" cy="7132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544568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901184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Plain HTML + JavaScript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Hash, signature, chain checks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413248"/>
            <a:ext cx="10972800" cy="56692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77840"/>
            <a:ext cx="10972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D223B"/>
                </a:solidFill>
                <a:latin typeface="Aptos"/>
              </a:rPr>
              <a:t>Core 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68696"/>
            <a:ext cx="90982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D7180"/>
                </a:solidFill>
                <a:latin typeface="Aptos"/>
              </a:rPr>
              <a:t>Original image bytes -&gt; SHA-256 -&gt; canonical JSON -&gt; record hash -&gt; device signature -&gt; JSON + image + PDF + QR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Prototype scope is intentionally narrow, testable, and safe to demonstrate.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82296" cy="1389888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27632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1984248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Uses existing smartphone camera and established mobile primitives: React Native, SQLite, native crypto, and OpenCV adapter.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82296" cy="1389888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27632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84248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Offline-first behavior preserves local evidence when field connectivity is unavailable; retry is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82112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82112"/>
            <a:ext cx="82296" cy="1389888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46704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703320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Image hash, canonical record, previous hash, signature, and verification page make integrity visible.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82112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182112"/>
            <a:ext cx="82296" cy="1389888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346704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703320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Simulation-only materials, presumptive wording, hard quality gates, and laboratory-confirmation guidance.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Implementation boundary</a:t>
            </a:r>
          </a:p>
        </p:txBody>
      </p:sp>
      <p:sp>
        <p:nvSpPr>
          <p:cNvPr id="27" name="Oval 26"/>
          <p:cNvSpPr/>
          <p:nvPr/>
        </p:nvSpPr>
        <p:spPr>
          <a:xfrm>
            <a:off x="246888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5029200"/>
            <a:ext cx="2788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Bundled versioned Reference DB for the prototype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5029200"/>
            <a:ext cx="26060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Mock sync adapter; no claim of production backend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9" y="5029200"/>
            <a:ext cx="2743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Prototype signing; no claim of trusted timestamps or agency PKI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0881360" cy="438912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751576"/>
            <a:ext cx="1042416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Future production scope: backend, agency PKI, HSM, trusted timestamps, full encryption, CNN classifier, and multi-agency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A stronger field record without changing the chemistry or the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D223B"/>
                </a:solidFill>
                <a:latin typeface="Aptos Display"/>
              </a:rPr>
              <a:t>Praman Setu improves the evidence around a presumptive field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11680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011680"/>
            <a:ext cx="82296" cy="1170432"/>
          </a:xfrm>
          <a:prstGeom prst="rect">
            <a:avLst/>
          </a:prstGeom>
          <a:solidFill>
            <a:srgbClr val="BE3F44"/>
          </a:solidFill>
          <a:ln>
            <a:solidFill>
              <a:srgbClr val="BE3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17627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32888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Reference-card calibration and color-space measurement reduce subjective interpretation.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011680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7" y="2011680"/>
            <a:ext cx="82296" cy="11704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217627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532888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Operator, kit, batch, timing, location, image hash, signature, and chain travel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93008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93008"/>
            <a:ext cx="82296" cy="11704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57600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014216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Offline records survive weak connectivity and can be synchronized or retried later.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3493008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7" y="3493008"/>
            <a:ext cx="82296" cy="11704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3657600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SUPERVISION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5" y="4014216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Reviewers see the same read-only record and can request retest or laboratory confirmation.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66360"/>
            <a:ext cx="10881360" cy="621792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21808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2BE46"/>
                </a:solidFill>
                <a:latin typeface="Aptos Display"/>
              </a:rPr>
              <a:t>Presumptive result  !=  laboratory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25312"/>
            <a:ext cx="9875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D7180"/>
                </a:solidFill>
                <a:latin typeface="Aptos"/>
              </a:rPr>
              <a:t>The product is intentionally honest about uncertainty - that is part of its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Official problem context, public standards, and implementation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223B"/>
                </a:solidFill>
                <a:latin typeface="Aptos"/>
              </a:rPr>
              <a:t>Government and problem-statement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9164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69164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2"/>
              </a:rPr>
              <a:t>Smart India Hackathon 2026 - SIH26231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9164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https://sih.gov.in/sih2026PS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9456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9456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3"/>
              </a:rPr>
              <a:t>Ministry of Home Affairs, Government of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9456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https://www.mha.gov.in/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9748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9748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4"/>
              </a:rPr>
              <a:t>Narcotics Control Bureau, Government of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9748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https://narcoticsindia.nic.in/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0040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20040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5"/>
              </a:rPr>
              <a:t>India Code - Government legislation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0040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https://www.indiacode.nic.in/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77639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223B"/>
                </a:solidFill>
                <a:latin typeface="Aptos"/>
              </a:rPr>
              <a:t>Technical and standards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37083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370832"/>
            <a:ext cx="46634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6"/>
              </a:rPr>
              <a:t>React Native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370832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https://reactnative.dev/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0060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800600"/>
            <a:ext cx="46634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7"/>
              </a:rPr>
              <a:t>OpenCV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80060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https://docs.opencv.org/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230368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[7]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230368"/>
            <a:ext cx="46634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8"/>
              </a:rPr>
              <a:t>SQLite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230368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https://www.sqlite.org/docs.html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60136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[8]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660136"/>
            <a:ext cx="46634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9"/>
              </a:rPr>
              <a:t>NIST FIPS 180-4 - Secure Hash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660136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https://csrc.nist.gov/pubs/fips/180-4/upd1/final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1261872"/>
            <a:ext cx="3611880" cy="98755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1481328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D223B"/>
                </a:solidFill>
                <a:latin typeface="Aptos"/>
              </a:rPr>
              <a:t>Reference note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783080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The prototype demonstrates a presumptive workflow; it does not claim laboratory validation or legal-grade evidence.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6144768"/>
            <a:ext cx="3611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All links are embedded as clickable hyperlinks in the editable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